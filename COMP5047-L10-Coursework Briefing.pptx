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329" r:id="rId2"/>
    <p:sldId id="256" r:id="rId3"/>
    <p:sldId id="330" r:id="rId4"/>
    <p:sldId id="331" r:id="rId5"/>
    <p:sldId id="332" r:id="rId6"/>
    <p:sldId id="333" r:id="rId7"/>
    <p:sldId id="471" r:id="rId8"/>
    <p:sldId id="555" r:id="rId9"/>
    <p:sldId id="556" r:id="rId10"/>
    <p:sldId id="472" r:id="rId11"/>
    <p:sldId id="473" r:id="rId12"/>
    <p:sldId id="474" r:id="rId13"/>
    <p:sldId id="544" r:id="rId14"/>
    <p:sldId id="389" r:id="rId15"/>
    <p:sldId id="399" r:id="rId16"/>
    <p:sldId id="547" r:id="rId17"/>
    <p:sldId id="554" r:id="rId18"/>
    <p:sldId id="562" r:id="rId19"/>
    <p:sldId id="548" r:id="rId20"/>
    <p:sldId id="551" r:id="rId21"/>
    <p:sldId id="550" r:id="rId22"/>
    <p:sldId id="563" r:id="rId23"/>
    <p:sldId id="566" r:id="rId24"/>
    <p:sldId id="549" r:id="rId25"/>
    <p:sldId id="557" r:id="rId26"/>
    <p:sldId id="558" r:id="rId27"/>
    <p:sldId id="559" r:id="rId28"/>
    <p:sldId id="564" r:id="rId29"/>
    <p:sldId id="565" r:id="rId30"/>
    <p:sldId id="560" r:id="rId31"/>
    <p:sldId id="561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88"/>
    <p:restoredTop sz="84938"/>
  </p:normalViewPr>
  <p:slideViewPr>
    <p:cSldViewPr snapToGrid="0">
      <p:cViewPr varScale="1">
        <p:scale>
          <a:sx n="136" d="100"/>
          <a:sy n="136" d="100"/>
        </p:scale>
        <p:origin x="133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A0139-AF40-284B-A1BB-00EBB9F0D4B9}" type="slidenum">
              <a:rPr lang="en-GB" smtClean="0"/>
              <a:t>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GB"/>
              <a:t>March 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Lecture 6</a:t>
            </a: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is-IS"/>
              <a:t>P00412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98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75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1413182"/>
            <a:ext cx="8520600" cy="13991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pic>
        <p:nvPicPr>
          <p:cNvPr id="5" name="Picture 4" descr="Brookes Logo">
            <a:extLst>
              <a:ext uri="{FF2B5EF4-FFF2-40B4-BE49-F238E27FC236}">
                <a16:creationId xmlns:a16="http://schemas.microsoft.com/office/drawing/2014/main" id="{98F70C31-16CE-43D2-9C6D-034143C507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7858" y="183054"/>
            <a:ext cx="1619965" cy="646216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669E9921-1AD1-8256-59CE-4DC5CC952C1B}"/>
              </a:ext>
            </a:extLst>
          </p:cNvPr>
          <p:cNvSpPr txBox="1">
            <a:spLocks/>
          </p:cNvSpPr>
          <p:nvPr userDrawn="1"/>
        </p:nvSpPr>
        <p:spPr>
          <a:xfrm>
            <a:off x="162192" y="95339"/>
            <a:ext cx="710010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COMP5047: Applied Software Engineering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6C94ACED-E587-DA21-7604-9FC88A56CF82}"/>
              </a:ext>
            </a:extLst>
          </p:cNvPr>
          <p:cNvSpPr txBox="1">
            <a:spLocks/>
          </p:cNvSpPr>
          <p:nvPr userDrawn="1"/>
        </p:nvSpPr>
        <p:spPr>
          <a:xfrm>
            <a:off x="311700" y="2981803"/>
            <a:ext cx="8520600" cy="1621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Prof. Hong Zhu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School of Engineering, Computing and Mathematics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Oxford Brookes University, Oxford, UK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Email: </a:t>
            </a:r>
            <a:r>
              <a:rPr lang="en-US" sz="2000" dirty="0" err="1">
                <a:solidFill>
                  <a:schemeClr val="bg1"/>
                </a:solidFill>
              </a:rPr>
              <a:t>hzhu@brookes.ac.uk</a:t>
            </a:r>
            <a:endParaRPr lang="en-US" sz="3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83310"/>
            <a:ext cx="8520600" cy="68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dirty="0"/>
              <a:t>Click to edit Master title style</a:t>
            </a:r>
            <a:endParaRPr dirty="0"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770966"/>
            <a:ext cx="8520600" cy="4007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12738" lvl="0" indent="-3063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itchFamily="2" charset="2"/>
              <a:buChar char="v"/>
              <a:tabLst/>
              <a:defRPr sz="2400"/>
            </a:lvl1pPr>
            <a:lvl2pPr marL="627063" lvl="1" indent="-314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itchFamily="2" charset="2"/>
              <a:buChar char="Ø"/>
              <a:tabLst/>
              <a:defRPr sz="2000"/>
            </a:lvl2pPr>
            <a:lvl3pPr marL="889000" lvl="2" indent="-2619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tabLst/>
              <a:defRPr sz="1800"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AEE05-4939-44CC-85F5-63B4FF886F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  <p:sp>
        <p:nvSpPr>
          <p:cNvPr id="2" name="Google Shape;8;p1">
            <a:extLst>
              <a:ext uri="{FF2B5EF4-FFF2-40B4-BE49-F238E27FC236}">
                <a16:creationId xmlns:a16="http://schemas.microsoft.com/office/drawing/2014/main" id="{7F61E14A-9FD5-1AB9-AA00-7506809F74E6}"/>
              </a:ext>
            </a:extLst>
          </p:cNvPr>
          <p:cNvSpPr txBox="1">
            <a:spLocks/>
          </p:cNvSpPr>
          <p:nvPr userDrawn="1"/>
        </p:nvSpPr>
        <p:spPr>
          <a:xfrm>
            <a:off x="8283600" y="4860017"/>
            <a:ext cx="548700" cy="27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>
                <a:solidFill>
                  <a:schemeClr val="accent1"/>
                </a:solidFill>
              </a:rPr>
              <a:pPr/>
              <a:t>‹#›</a:t>
            </a:fld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F5752EC-9292-1F32-D5B4-E845570E2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1700" y="4868862"/>
            <a:ext cx="172720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9130F9-228F-C018-9071-E5C66FCCA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1287" y="4860017"/>
            <a:ext cx="3679825" cy="27463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fr-FR"/>
              <a:t>COMP5047: Lecture 10 - Coursework Briefing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150" y="4167673"/>
            <a:ext cx="85217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F29D2-2A5D-486A-A3CC-2A8D962297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11150" y="307826"/>
            <a:ext cx="8521700" cy="38045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1BE01559-158E-275B-A3C3-329DD8EE25A7}"/>
              </a:ext>
            </a:extLst>
          </p:cNvPr>
          <p:cNvSpPr txBox="1">
            <a:spLocks/>
          </p:cNvSpPr>
          <p:nvPr userDrawn="1"/>
        </p:nvSpPr>
        <p:spPr>
          <a:xfrm>
            <a:off x="8283600" y="4868862"/>
            <a:ext cx="548700" cy="28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>
                <a:solidFill>
                  <a:schemeClr val="accent1"/>
                </a:solidFill>
              </a:rPr>
              <a:pPr/>
              <a:t>‹#›</a:t>
            </a:fld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E3796B2-15C3-41B3-1A3F-2B5F87076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1700" y="4868862"/>
            <a:ext cx="1727200" cy="2746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C8968A-F42C-F506-C762-9DD7F6533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1287" y="4860017"/>
            <a:ext cx="3679825" cy="27463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COMP5047: Lecture 10 - Coursework Briefing</a:t>
            </a:r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40025"/>
            <a:ext cx="8520600" cy="24721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752164"/>
            <a:ext cx="8520600" cy="2092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17669-2DDA-4B56-89BC-E886C61F33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  <p:sp>
        <p:nvSpPr>
          <p:cNvPr id="2" name="Google Shape;8;p1">
            <a:extLst>
              <a:ext uri="{FF2B5EF4-FFF2-40B4-BE49-F238E27FC236}">
                <a16:creationId xmlns:a16="http://schemas.microsoft.com/office/drawing/2014/main" id="{5C152330-999D-27CF-F608-A1D7685EF43C}"/>
              </a:ext>
            </a:extLst>
          </p:cNvPr>
          <p:cNvSpPr txBox="1">
            <a:spLocks/>
          </p:cNvSpPr>
          <p:nvPr userDrawn="1"/>
        </p:nvSpPr>
        <p:spPr>
          <a:xfrm>
            <a:off x="8283600" y="4884781"/>
            <a:ext cx="548700" cy="28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>
                <a:solidFill>
                  <a:schemeClr val="accent1"/>
                </a:solidFill>
              </a:rPr>
              <a:pPr/>
              <a:t>‹#›</a:t>
            </a:fld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633DA2DC-7A4A-1CFE-4231-5CD7A800E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1700" y="4868862"/>
            <a:ext cx="1727200" cy="2746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2744D49-DD44-F308-17FF-1893F9642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1287" y="4860017"/>
            <a:ext cx="3679825" cy="27463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COMP5047: Lecture 10 - Coursework Briefing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49870A-8F58-4167-BA78-B280151F71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  <p:sp>
        <p:nvSpPr>
          <p:cNvPr id="2" name="Google Shape;8;p1">
            <a:extLst>
              <a:ext uri="{FF2B5EF4-FFF2-40B4-BE49-F238E27FC236}">
                <a16:creationId xmlns:a16="http://schemas.microsoft.com/office/drawing/2014/main" id="{A7A59D5F-B5B3-ED6B-8D77-7D8E5C7CAB29}"/>
              </a:ext>
            </a:extLst>
          </p:cNvPr>
          <p:cNvSpPr txBox="1">
            <a:spLocks/>
          </p:cNvSpPr>
          <p:nvPr userDrawn="1"/>
        </p:nvSpPr>
        <p:spPr>
          <a:xfrm>
            <a:off x="8355583" y="4868862"/>
            <a:ext cx="548700" cy="28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>
                <a:solidFill>
                  <a:schemeClr val="accent1"/>
                </a:solidFill>
              </a:rPr>
              <a:pPr/>
              <a:t>‹#›</a:t>
            </a:fld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CE2ED0C6-6F7E-0C57-9DB1-E2C91BC8A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1700" y="4868862"/>
            <a:ext cx="1727200" cy="2746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F7572-D29D-17E9-B06D-8C1B8AB06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1287" y="4860017"/>
            <a:ext cx="3679825" cy="27463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COMP5047: Lecture 10 - Coursework Briefing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bg>
      <p:bgPr>
        <a:solidFill>
          <a:srgbClr val="455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OB PPT banner 1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27411"/>
            <a:ext cx="8534400" cy="1154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23528" y="234554"/>
            <a:ext cx="8487752" cy="114521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4" name="Picture 3" descr="com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387219"/>
            <a:ext cx="8532000" cy="357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7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7" y="681540"/>
            <a:ext cx="4270126" cy="4212468"/>
          </a:xfrm>
        </p:spPr>
        <p:txBody>
          <a:bodyPr>
            <a:normAutofit/>
          </a:bodyPr>
          <a:lstStyle>
            <a:lvl1pPr marL="0" indent="0">
              <a:buNone/>
              <a:defRPr sz="1800" b="1"/>
            </a:lvl1pPr>
            <a:lvl2pPr marL="203589" indent="-203589">
              <a:buFont typeface="Wingdings" pitchFamily="2" charset="2"/>
              <a:buChar char="ü"/>
              <a:defRPr sz="1800"/>
            </a:lvl2pPr>
            <a:lvl3pPr marL="400034" indent="-196446">
              <a:defRPr sz="1500"/>
            </a:lvl3pPr>
            <a:lvl4pPr marL="603623" indent="-203589">
              <a:buFont typeface="Arial" panose="020B0604020202020204" pitchFamily="34" charset="0"/>
              <a:buChar char="•"/>
              <a:defRPr sz="1500"/>
            </a:lvl4pPr>
            <a:lvl5pPr marL="808403" indent="-204780">
              <a:buFont typeface="Courier New" panose="02070309020205020404" pitchFamily="49" charset="0"/>
              <a:buChar char="o"/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656" y="681540"/>
            <a:ext cx="4138824" cy="4212468"/>
          </a:xfrm>
        </p:spPr>
        <p:txBody>
          <a:bodyPr>
            <a:normAutofit/>
          </a:bodyPr>
          <a:lstStyle>
            <a:lvl1pPr marL="0" indent="0">
              <a:buNone/>
              <a:defRPr sz="1800" b="1"/>
            </a:lvl1pPr>
            <a:lvl2pPr marL="203589" indent="-203589">
              <a:buFont typeface="Wingdings" pitchFamily="2" charset="2"/>
              <a:buChar char="ü"/>
              <a:defRPr sz="1800"/>
            </a:lvl2pPr>
            <a:lvl3pPr marL="400034" indent="-196446">
              <a:defRPr sz="1500"/>
            </a:lvl3pPr>
            <a:lvl4pPr marL="603623" indent="-203589">
              <a:buFont typeface="Arial" panose="020B0604020202020204" pitchFamily="34" charset="0"/>
              <a:buChar char="•"/>
              <a:defRPr sz="1500"/>
            </a:lvl4pPr>
            <a:lvl5pPr marL="808403" indent="-204780">
              <a:buFont typeface="Courier New" panose="02070309020205020404" pitchFamily="49" charset="0"/>
              <a:buChar char="o"/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403152" y="486965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Nov. 2025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486965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COMP5047: Lecture 10 - Coursework Briefing</a:t>
            </a:r>
            <a:endParaRPr lang="en-GB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86872" y="486965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972AD-CEEC-1242-9665-79AD4D997D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416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134470"/>
            <a:ext cx="8520600" cy="63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770965"/>
            <a:ext cx="8520600" cy="4007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83600" y="4860017"/>
            <a:ext cx="548700" cy="28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F7A95-6E7A-AC44-B228-8FE99035F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1700" y="4868862"/>
            <a:ext cx="1727200" cy="274638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accent1"/>
                </a:solidFill>
              </a:defRPr>
            </a:lvl1pPr>
          </a:lstStyle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2FFE2CE-3AB3-2432-5876-05649209B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1287" y="4860017"/>
            <a:ext cx="3679825" cy="274638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accent1"/>
                </a:solidFill>
              </a:defRPr>
            </a:lvl1pPr>
          </a:lstStyle>
          <a:p>
            <a:r>
              <a:rPr lang="fr-FR"/>
              <a:t>COMP5047: Lecture 10 - Coursework Briefing</a:t>
            </a:r>
            <a:endParaRPr lang="en-GB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8" r:id="rId5"/>
    <p:sldLayoutId id="2147483660" r:id="rId6"/>
    <p:sldLayoutId id="2147483662" r:id="rId7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hzhu@brookes.ac.uk" TargetMode="External"/><Relationship Id="rId2" Type="http://schemas.openxmlformats.org/officeDocument/2006/relationships/hyperlink" Target="mailto:19232440@brookes.ac.u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ykrytska@brookes.ac.uk" TargetMode="External"/><Relationship Id="rId4" Type="http://schemas.openxmlformats.org/officeDocument/2006/relationships/hyperlink" Target="mailto:rachel.harrison@brookes.ac.uk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hzhu@brookes.ac.uk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3C9DFF-9552-785A-E3DC-89971A10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332854"/>
            <a:ext cx="8520600" cy="1479502"/>
          </a:xfrm>
        </p:spPr>
        <p:txBody>
          <a:bodyPr/>
          <a:lstStyle/>
          <a:p>
            <a:r>
              <a:rPr lang="en-US" dirty="0"/>
              <a:t>Lecture 10</a:t>
            </a:r>
            <a:br>
              <a:rPr lang="en-US" dirty="0"/>
            </a:br>
            <a:r>
              <a:rPr lang="en-US" dirty="0"/>
              <a:t>Consolidation and Coursework briefing</a:t>
            </a:r>
          </a:p>
        </p:txBody>
      </p:sp>
    </p:spTree>
    <p:extLst>
      <p:ext uri="{BB962C8B-B14F-4D97-AF65-F5344CB8AC3E}">
        <p14:creationId xmlns:p14="http://schemas.microsoft.com/office/powerpoint/2010/main" val="315728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Outline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dirty="0"/>
              <a:t>Coursework Briefing</a:t>
            </a:r>
          </a:p>
          <a:p>
            <a:pPr lvl="1"/>
            <a:r>
              <a:rPr lang="en-GB" sz="2400" dirty="0"/>
              <a:t>Go through each task </a:t>
            </a:r>
          </a:p>
          <a:p>
            <a:pPr lvl="1"/>
            <a:r>
              <a:rPr lang="en-GB" sz="2400" dirty="0"/>
              <a:t>What to be submitted</a:t>
            </a:r>
          </a:p>
          <a:p>
            <a:pPr lvl="1"/>
            <a:r>
              <a:rPr lang="en-GB" sz="2400" dirty="0"/>
              <a:t>When and where to submit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Questions and Answers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14B779-A147-E4C0-C9C0-488FCE8F1E33}"/>
              </a:ext>
            </a:extLst>
          </p:cNvPr>
          <p:cNvSpPr txBox="1"/>
          <p:nvPr/>
        </p:nvSpPr>
        <p:spPr>
          <a:xfrm>
            <a:off x="4144297" y="261046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184DC-EB42-6623-CF63-A5FB78BCD685}"/>
              </a:ext>
            </a:extLst>
          </p:cNvPr>
          <p:cNvSpPr txBox="1"/>
          <p:nvPr/>
        </p:nvSpPr>
        <p:spPr>
          <a:xfrm>
            <a:off x="5128427" y="835202"/>
            <a:ext cx="3365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0432FF"/>
                </a:solidFill>
              </a:rPr>
              <a:t>Please scan the QR code to do module evaluation.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101E2A-4E40-AB69-F362-194ED810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562" y="1676221"/>
            <a:ext cx="21971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97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D613-0CF0-DE3D-F23A-27958827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83310"/>
            <a:ext cx="8520600" cy="1140806"/>
          </a:xfrm>
        </p:spPr>
        <p:txBody>
          <a:bodyPr/>
          <a:lstStyle/>
          <a:p>
            <a:r>
              <a:rPr lang="en-GB" dirty="0"/>
              <a:t>Task 1: Team Organisation and Project Management </a:t>
            </a:r>
            <a:r>
              <a:rPr lang="en-GB" dirty="0">
                <a:solidFill>
                  <a:srgbClr val="0432FF"/>
                </a:solidFill>
              </a:rPr>
              <a:t>(Team Part)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3535D-8755-85F7-B4FB-E9640C970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12732"/>
            <a:ext cx="8520600" cy="3864621"/>
          </a:xfrm>
        </p:spPr>
        <p:txBody>
          <a:bodyPr/>
          <a:lstStyle/>
          <a:p>
            <a:r>
              <a:rPr lang="en-GB" dirty="0"/>
              <a:t>Include the following contents in the teamwork report</a:t>
            </a:r>
          </a:p>
          <a:p>
            <a:pPr lvl="1"/>
            <a:r>
              <a:rPr lang="en-GB" dirty="0"/>
              <a:t>Team collaboration mechanisms and facilities</a:t>
            </a:r>
          </a:p>
          <a:p>
            <a:pPr lvl="2"/>
            <a:r>
              <a:rPr lang="en-GB" dirty="0"/>
              <a:t>GitHub Repository of the team’s project</a:t>
            </a:r>
          </a:p>
          <a:p>
            <a:pPr marL="1249363" lvl="3" indent="-35560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URL</a:t>
            </a:r>
          </a:p>
          <a:p>
            <a:pPr marL="1249363" lvl="3" indent="-35560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A list of folders and explanation of the contents of the files in the folder</a:t>
            </a:r>
          </a:p>
          <a:p>
            <a:pPr marL="1249363" lvl="3" indent="-35560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What should be stored in the repository</a:t>
            </a:r>
          </a:p>
          <a:p>
            <a:pPr marL="1706563" lvl="4" indent="-35560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Team operation documents: meeting agendas, meeting minutes, etc. </a:t>
            </a:r>
          </a:p>
          <a:p>
            <a:pPr marL="1706563" lvl="4" indent="-35560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Papyrus model files for each subsystem</a:t>
            </a:r>
          </a:p>
          <a:p>
            <a:pPr marL="1706563" lvl="4" indent="-35560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Papyrus model files for the integrated architectural design of the whole system</a:t>
            </a:r>
          </a:p>
          <a:p>
            <a:pPr lvl="1"/>
            <a:r>
              <a:rPr lang="en-GB" dirty="0"/>
              <a:t>Team operation summary </a:t>
            </a:r>
          </a:p>
          <a:p>
            <a:pPr lvl="2"/>
            <a:r>
              <a:rPr lang="en-GB" dirty="0"/>
              <a:t>A table to list all team meetings </a:t>
            </a:r>
          </a:p>
          <a:p>
            <a:pPr marL="1249363" lvl="3" indent="-315913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Date, Venue, Start time, Finish time, Topics, Meeting chairperson, Attendance, Agenda URL, Minutes URL </a:t>
            </a:r>
          </a:p>
          <a:p>
            <a:pPr marL="893763" lvl="2" indent="-304800"/>
            <a:r>
              <a:rPr lang="en-GB" dirty="0"/>
              <a:t>A statement on team collaboration, e.g. which documents were cross checked by whom or at which group meeting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3328F-C9CB-041A-2289-F5731307D1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D8579-63C4-B9D4-303B-021967E26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/>
              <a:t>COMP5047: Lecture 10 - </a:t>
            </a:r>
            <a:r>
              <a:rPr lang="fr-FR" dirty="0" err="1"/>
              <a:t>Coursework</a:t>
            </a:r>
            <a:r>
              <a:rPr lang="fr-FR" dirty="0"/>
              <a:t> Briefing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2E82E-3B36-FA1D-256B-C7D2E098445E}"/>
              </a:ext>
            </a:extLst>
          </p:cNvPr>
          <p:cNvSpPr txBox="1"/>
          <p:nvPr/>
        </p:nvSpPr>
        <p:spPr>
          <a:xfrm>
            <a:off x="6811112" y="1828800"/>
            <a:ext cx="194638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i="1" dirty="0">
                <a:solidFill>
                  <a:srgbClr val="FF0000"/>
                </a:solidFill>
              </a:rPr>
              <a:t>See Slide 25</a:t>
            </a:r>
          </a:p>
        </p:txBody>
      </p:sp>
    </p:spTree>
    <p:extLst>
      <p:ext uri="{BB962C8B-B14F-4D97-AF65-F5344CB8AC3E}">
        <p14:creationId xmlns:p14="http://schemas.microsoft.com/office/powerpoint/2010/main" val="637134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EB52-D5BE-5ED3-84A7-77EE8EBFA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Task 1: Team Organisation and Project Management </a:t>
            </a:r>
            <a:r>
              <a:rPr lang="en-GB" sz="3200" dirty="0">
                <a:solidFill>
                  <a:srgbClr val="0432FF"/>
                </a:solidFill>
              </a:rPr>
              <a:t>(Individual Part)</a:t>
            </a:r>
            <a:endParaRPr lang="en-GB" dirty="0">
              <a:solidFill>
                <a:srgbClr val="0432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E6745-6C3F-CED6-6E72-FC870552D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90320"/>
            <a:ext cx="8520600" cy="3488256"/>
          </a:xfrm>
        </p:spPr>
        <p:txBody>
          <a:bodyPr/>
          <a:lstStyle/>
          <a:p>
            <a:r>
              <a:rPr lang="en-GB" dirty="0"/>
              <a:t>Each student to include the following contents in the Individual Report as a section on personal reflection of the teamwork</a:t>
            </a:r>
          </a:p>
          <a:p>
            <a:pPr lvl="1"/>
            <a:r>
              <a:rPr lang="en-GB" dirty="0"/>
              <a:t>Contribution to team organisation</a:t>
            </a:r>
          </a:p>
          <a:p>
            <a:pPr lvl="2"/>
            <a:r>
              <a:rPr lang="en-GB" dirty="0"/>
              <a:t>Attendance to team meeting</a:t>
            </a:r>
          </a:p>
          <a:p>
            <a:pPr lvl="2"/>
            <a:r>
              <a:rPr lang="en-GB" dirty="0"/>
              <a:t>Chairing team meetings, preparing agenda, recording meeting minutes</a:t>
            </a:r>
          </a:p>
          <a:p>
            <a:pPr lvl="2"/>
            <a:r>
              <a:rPr lang="en-GB" dirty="0"/>
              <a:t>Setting up GitHub repository, etc. </a:t>
            </a:r>
          </a:p>
          <a:p>
            <a:pPr lvl="1"/>
            <a:r>
              <a:rPr lang="en-GB" dirty="0"/>
              <a:t>Technical Contributions</a:t>
            </a:r>
          </a:p>
          <a:p>
            <a:pPr lvl="2"/>
            <a:r>
              <a:rPr lang="en-GB" dirty="0"/>
              <a:t>Completion of tasks on time, frequency of committing work to GitHub repository</a:t>
            </a:r>
          </a:p>
          <a:p>
            <a:pPr lvl="2"/>
            <a:r>
              <a:rPr lang="en-GB" dirty="0"/>
              <a:t>Cross checking and comments on other person’s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28301-30F1-8F85-FF51-425459E81B7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F2C8E-95D9-B4DB-96CC-FD9F3F0F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707D6-6832-D290-9E62-4CB1CE3B8E82}"/>
              </a:ext>
            </a:extLst>
          </p:cNvPr>
          <p:cNvSpPr txBox="1"/>
          <p:nvPr/>
        </p:nvSpPr>
        <p:spPr>
          <a:xfrm>
            <a:off x="6650856" y="2371695"/>
            <a:ext cx="194638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i="1" dirty="0">
                <a:solidFill>
                  <a:srgbClr val="FF0000"/>
                </a:solidFill>
              </a:rPr>
              <a:t>See Slide 26</a:t>
            </a:r>
          </a:p>
        </p:txBody>
      </p:sp>
    </p:spTree>
    <p:extLst>
      <p:ext uri="{BB962C8B-B14F-4D97-AF65-F5344CB8AC3E}">
        <p14:creationId xmlns:p14="http://schemas.microsoft.com/office/powerpoint/2010/main" val="1291165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19DB-6BC5-5F53-502E-DFC41103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Analyse and Specify Quality </a:t>
            </a:r>
            <a:r>
              <a:rPr lang="en-GB" dirty="0" err="1"/>
              <a:t>Reqs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AC68F-4289-8D19-8E69-1A31726E1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Each student </a:t>
            </a:r>
            <a:r>
              <a:rPr lang="en-GB" dirty="0"/>
              <a:t>to write a specification of </a:t>
            </a:r>
            <a:r>
              <a:rPr lang="en-GB" b="1" dirty="0"/>
              <a:t>quality requirements</a:t>
            </a:r>
            <a:r>
              <a:rPr lang="en-GB" dirty="0"/>
              <a:t> on the </a:t>
            </a:r>
            <a:r>
              <a:rPr lang="en-GB" b="1" dirty="0"/>
              <a:t>selected subsystem</a:t>
            </a:r>
          </a:p>
          <a:p>
            <a:pPr lvl="1"/>
            <a:r>
              <a:rPr lang="en-GB" dirty="0"/>
              <a:t>Select one required function of your subsystem, define the quality requirements on the following quality attributes: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GB" dirty="0"/>
              <a:t>Security and Privacy protection, Performance, Reliability, Scalability</a:t>
            </a:r>
          </a:p>
          <a:p>
            <a:pPr lvl="1"/>
            <a:r>
              <a:rPr lang="en-GB" dirty="0"/>
              <a:t>What is a good work:</a:t>
            </a:r>
          </a:p>
          <a:p>
            <a:pPr lvl="2"/>
            <a:r>
              <a:rPr lang="en-GB" dirty="0"/>
              <a:t>Correct for the quality attribute (</a:t>
            </a:r>
            <a:r>
              <a:rPr lang="en-GB" i="1" dirty="0">
                <a:solidFill>
                  <a:srgbClr val="0432FF"/>
                </a:solidFill>
              </a:rPr>
              <a:t>Not need to give a definition or explanation of the quality attribute) </a:t>
            </a:r>
            <a:endParaRPr lang="en-GB" dirty="0"/>
          </a:p>
          <a:p>
            <a:pPr lvl="2"/>
            <a:r>
              <a:rPr lang="en-GB" dirty="0"/>
              <a:t>Clarity of the statements on quality requirements </a:t>
            </a:r>
          </a:p>
          <a:p>
            <a:pPr lvl="2"/>
            <a:r>
              <a:rPr lang="en-GB" dirty="0"/>
              <a:t>Statements must be testable and verifiable</a:t>
            </a:r>
          </a:p>
          <a:p>
            <a:pPr lvl="2"/>
            <a:r>
              <a:rPr lang="en-GB" dirty="0"/>
              <a:t>Completely cover all quality attributes</a:t>
            </a:r>
          </a:p>
          <a:p>
            <a:pPr lvl="2"/>
            <a:r>
              <a:rPr lang="en-GB" dirty="0"/>
              <a:t>Reasonably accurate </a:t>
            </a:r>
            <a:r>
              <a:rPr lang="en-GB" dirty="0" err="1"/>
              <a:t>w.r.t.</a:t>
            </a:r>
            <a:r>
              <a:rPr lang="en-GB" dirty="0"/>
              <a:t> the reality</a:t>
            </a:r>
          </a:p>
          <a:p>
            <a:pPr marL="627062" lvl="2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2CEAF-094C-9CDA-5DCD-2E746EDE266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219FC-7CEB-D5B7-B4CC-36A15C88A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173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ADA5-729D-379B-6C1C-F4F02564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3: Modelling SW Functional </a:t>
            </a:r>
            <a:r>
              <a:rPr lang="en-GB" dirty="0" err="1"/>
              <a:t>Reqs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10260-5885-1E34-0DB4-1D234A54F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50240"/>
            <a:ext cx="8520600" cy="4218622"/>
          </a:xfrm>
        </p:spPr>
        <p:txBody>
          <a:bodyPr/>
          <a:lstStyle/>
          <a:p>
            <a:r>
              <a:rPr lang="en-GB" dirty="0"/>
              <a:t>Task 3(a) Use case diagram</a:t>
            </a:r>
          </a:p>
          <a:p>
            <a:pPr lvl="1"/>
            <a:r>
              <a:rPr lang="en-GB" dirty="0"/>
              <a:t>Each student develop a use case diagram for the selected subsystem</a:t>
            </a:r>
          </a:p>
          <a:p>
            <a:pPr lvl="1"/>
            <a:r>
              <a:rPr lang="en-GB" dirty="0"/>
              <a:t>What is a good work?</a:t>
            </a:r>
          </a:p>
          <a:p>
            <a:pPr lvl="2"/>
            <a:r>
              <a:rPr lang="en-GB" dirty="0"/>
              <a:t>Use the UML modelling tool </a:t>
            </a:r>
            <a:r>
              <a:rPr lang="en-GB" b="1" i="1" dirty="0"/>
              <a:t>Papyrus</a:t>
            </a:r>
          </a:p>
          <a:p>
            <a:pPr lvl="2"/>
            <a:r>
              <a:rPr lang="en-GB" dirty="0"/>
              <a:t>No syntax error</a:t>
            </a:r>
          </a:p>
          <a:p>
            <a:pPr lvl="2"/>
            <a:r>
              <a:rPr lang="en-GB" dirty="0"/>
              <a:t>Cover all functional requirements</a:t>
            </a:r>
          </a:p>
          <a:p>
            <a:pPr lvl="2"/>
            <a:r>
              <a:rPr lang="en-GB" dirty="0"/>
              <a:t>Logically correct 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Correct actors, subject, and use cases 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Correct relationship between the actor and the use cases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Correct relationships between use cases</a:t>
            </a:r>
          </a:p>
          <a:p>
            <a:pPr lvl="2"/>
            <a:r>
              <a:rPr lang="en-GB" dirty="0"/>
              <a:t>Use cases at the right level of abstraction 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Not too high level (a use case has very complicated interactions and should be decomposed) 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Not too low level (a use case has very simple and short interactions)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EF47C-6DA2-5178-7E5C-EA86DD1F6B1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7C7A5-DD6D-9B1C-2889-DB62338A4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634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product&#10;&#10;AI-generated content may be incorrect.">
            <a:extLst>
              <a:ext uri="{FF2B5EF4-FFF2-40B4-BE49-F238E27FC236}">
                <a16:creationId xmlns:a16="http://schemas.microsoft.com/office/drawing/2014/main" id="{686FE15A-AB0B-AB46-E496-DCF71939D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00" y="770965"/>
            <a:ext cx="8716186" cy="40546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D94298-0195-21E2-238D-88AAEE84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83310"/>
            <a:ext cx="8716186" cy="687655"/>
          </a:xfrm>
        </p:spPr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CloudShop</a:t>
            </a:r>
            <a:r>
              <a:rPr lang="en-US" dirty="0"/>
              <a:t>-Customer Subsystem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10965-1564-EDD0-AFF6-647F392C35E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47F89-69FD-A2D9-0D00-202D13CA9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31677-CF6D-16BB-43E8-EB29CFAF3DCF}"/>
              </a:ext>
            </a:extLst>
          </p:cNvPr>
          <p:cNvSpPr txBox="1"/>
          <p:nvPr/>
        </p:nvSpPr>
        <p:spPr>
          <a:xfrm>
            <a:off x="204914" y="849086"/>
            <a:ext cx="1407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175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968A-DB03-F663-AF60-2CF10596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Relations between 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DD4C8-4328-6D54-0D6F-B3D7AF9EB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6385" y="770965"/>
            <a:ext cx="3953467" cy="4007610"/>
          </a:xfrm>
        </p:spPr>
        <p:txBody>
          <a:bodyPr/>
          <a:lstStyle/>
          <a:p>
            <a:r>
              <a:rPr lang="en-GB" dirty="0"/>
              <a:t>A include B: </a:t>
            </a:r>
          </a:p>
          <a:p>
            <a:pPr lvl="1"/>
            <a:r>
              <a:rPr lang="en-GB" dirty="0"/>
              <a:t>A is the base use case</a:t>
            </a:r>
          </a:p>
          <a:p>
            <a:pPr lvl="1"/>
            <a:r>
              <a:rPr lang="en-GB" dirty="0"/>
              <a:t>Without B, A is not complete =&gt; B is essential</a:t>
            </a:r>
          </a:p>
          <a:p>
            <a:r>
              <a:rPr lang="en-GB" dirty="0"/>
              <a:t>B extend A: </a:t>
            </a:r>
          </a:p>
          <a:p>
            <a:pPr lvl="1"/>
            <a:r>
              <a:rPr lang="en-GB" dirty="0"/>
              <a:t>A is the base use case</a:t>
            </a:r>
          </a:p>
          <a:p>
            <a:pPr lvl="1"/>
            <a:r>
              <a:rPr lang="en-GB" dirty="0"/>
              <a:t>A is independently meaningful =&gt; B is not essential</a:t>
            </a:r>
          </a:p>
          <a:p>
            <a:r>
              <a:rPr lang="en-GB" dirty="0"/>
              <a:t>A generalise B:</a:t>
            </a:r>
          </a:p>
          <a:p>
            <a:pPr lvl="1"/>
            <a:r>
              <a:rPr lang="en-GB" dirty="0"/>
              <a:t>B is a subset of the interaction sequences of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A5012-A4E4-6DA0-A937-787EB2FABF4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CB0CB-58FB-7C98-813D-77170979F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722FB5-3E28-4309-4FFC-F42E22C37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48" y="770966"/>
            <a:ext cx="3046636" cy="593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5D0CF7-E20A-17B6-FB8A-021768F22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446054"/>
            <a:ext cx="3434390" cy="1222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2DDD9B-8811-55BB-676C-F30496F0B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741554"/>
            <a:ext cx="4564685" cy="211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51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4294-3DD9-D298-A86B-C7035F15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Build a Use Case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625C7-6D9C-0883-B080-7818FCF55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78426"/>
            <a:ext cx="8520600" cy="4190436"/>
          </a:xfrm>
        </p:spPr>
        <p:txBody>
          <a:bodyPr/>
          <a:lstStyle/>
          <a:p>
            <a:r>
              <a:rPr lang="en-GB" sz="2000" dirty="0"/>
              <a:t>Start with identification of </a:t>
            </a:r>
            <a:r>
              <a:rPr lang="en-GB" sz="2000" b="1" i="1" dirty="0"/>
              <a:t>Base Use Cases</a:t>
            </a:r>
          </a:p>
          <a:p>
            <a:pPr lvl="1"/>
            <a:r>
              <a:rPr lang="en-GB" sz="1800" dirty="0"/>
              <a:t>The true use cases that the user has a clearly defined usage purpose</a:t>
            </a:r>
          </a:p>
          <a:p>
            <a:r>
              <a:rPr lang="en-GB" sz="2000" dirty="0"/>
              <a:t>Decompose a use case, if it is </a:t>
            </a:r>
            <a:r>
              <a:rPr lang="en-GB" sz="2000" i="1" dirty="0"/>
              <a:t>too complicated </a:t>
            </a:r>
            <a:r>
              <a:rPr lang="en-GB" sz="2000" dirty="0"/>
              <a:t>or can be made </a:t>
            </a:r>
            <a:r>
              <a:rPr lang="en-GB" sz="2000" i="1" dirty="0"/>
              <a:t>modular</a:t>
            </a:r>
          </a:p>
          <a:p>
            <a:pPr lvl="1"/>
            <a:r>
              <a:rPr lang="en-GB" sz="1800" dirty="0"/>
              <a:t>Use include relation:</a:t>
            </a:r>
          </a:p>
          <a:p>
            <a:pPr lvl="2"/>
            <a:r>
              <a:rPr lang="en-GB" sz="1600" dirty="0"/>
              <a:t>Two or more use cases have a common part</a:t>
            </a:r>
          </a:p>
          <a:p>
            <a:pPr lvl="1"/>
            <a:r>
              <a:rPr lang="en-GB" sz="1800" dirty="0"/>
              <a:t>Use extend relation: </a:t>
            </a:r>
          </a:p>
          <a:p>
            <a:pPr lvl="2"/>
            <a:r>
              <a:rPr lang="en-GB" sz="1600" dirty="0"/>
              <a:t>The interactions of a use case have repeated and optional sub-sequences of interactions</a:t>
            </a:r>
          </a:p>
          <a:p>
            <a:pPr lvl="1"/>
            <a:r>
              <a:rPr lang="en-GB" sz="1800" dirty="0"/>
              <a:t>Use sub-use case relation:</a:t>
            </a:r>
          </a:p>
          <a:p>
            <a:pPr lvl="2"/>
            <a:r>
              <a:rPr lang="en-GB" sz="1600" dirty="0"/>
              <a:t>The purpose of usage can be specialised into a few more specific ones</a:t>
            </a:r>
          </a:p>
          <a:p>
            <a:pPr lvl="2"/>
            <a:r>
              <a:rPr lang="en-GB" sz="1600" dirty="0"/>
              <a:t>The set of interactions can be devised into a few subsets</a:t>
            </a:r>
          </a:p>
          <a:p>
            <a:r>
              <a:rPr lang="en-GB" sz="2000" dirty="0"/>
              <a:t>Stop decomposition if the complexity of the interactions of the use case are manageable</a:t>
            </a:r>
          </a:p>
          <a:p>
            <a:pPr lvl="1"/>
            <a:r>
              <a:rPr lang="en-GB" sz="1600" dirty="0"/>
              <a:t>A use case is unnecessary if the interaction is only a couple of steps.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FAEFA-D4F3-68D0-4750-64C71320FA7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75BB0-9F05-2886-15D1-60F239536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62533-D15A-BEAF-3184-87CD58649FE2}"/>
              </a:ext>
            </a:extLst>
          </p:cNvPr>
          <p:cNvSpPr txBox="1"/>
          <p:nvPr/>
        </p:nvSpPr>
        <p:spPr>
          <a:xfrm>
            <a:off x="5973097" y="1873044"/>
            <a:ext cx="2859203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i="1" dirty="0">
                <a:solidFill>
                  <a:srgbClr val="0432FF"/>
                </a:solidFill>
              </a:rPr>
              <a:t>Use cases should be at the right level of abstraction. </a:t>
            </a:r>
          </a:p>
        </p:txBody>
      </p:sp>
    </p:spTree>
    <p:extLst>
      <p:ext uri="{BB962C8B-B14F-4D97-AF65-F5344CB8AC3E}">
        <p14:creationId xmlns:p14="http://schemas.microsoft.com/office/powerpoint/2010/main" val="16528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9FCD0-84D9-FFCC-639A-B4B3F085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C354-51E2-B23B-A069-659799A8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3(b) Activity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2E4F3-F307-1E19-F1E5-DB6C33477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70965"/>
            <a:ext cx="8520600" cy="4089052"/>
          </a:xfrm>
        </p:spPr>
        <p:txBody>
          <a:bodyPr/>
          <a:lstStyle/>
          <a:p>
            <a:pPr lvl="1"/>
            <a:r>
              <a:rPr lang="en-GB" dirty="0"/>
              <a:t>Each student develop an activity diagram for one use case of the selected subsystem</a:t>
            </a:r>
          </a:p>
          <a:p>
            <a:pPr lvl="1"/>
            <a:r>
              <a:rPr lang="en-GB" dirty="0"/>
              <a:t>What is a good work?</a:t>
            </a:r>
          </a:p>
          <a:p>
            <a:pPr lvl="2"/>
            <a:r>
              <a:rPr lang="en-GB" dirty="0"/>
              <a:t>Use the UML modelling tool </a:t>
            </a:r>
            <a:r>
              <a:rPr lang="en-GB" b="1" i="1" dirty="0"/>
              <a:t>Papyrus</a:t>
            </a:r>
          </a:p>
          <a:p>
            <a:pPr lvl="2"/>
            <a:r>
              <a:rPr lang="en-GB" dirty="0"/>
              <a:t>Model the interactions between a user and the subsystem</a:t>
            </a:r>
          </a:p>
          <a:p>
            <a:pPr marL="1208088" lvl="3" indent="-334963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Two </a:t>
            </a:r>
            <a:r>
              <a:rPr lang="en-GB" dirty="0" err="1"/>
              <a:t>swimlanes</a:t>
            </a:r>
            <a:r>
              <a:rPr lang="en-GB" dirty="0"/>
              <a:t> (also called </a:t>
            </a:r>
            <a:r>
              <a:rPr lang="en-GB" i="1" dirty="0">
                <a:solidFill>
                  <a:srgbClr val="0432FF"/>
                </a:solidFill>
              </a:rPr>
              <a:t>partitions</a:t>
            </a:r>
            <a:r>
              <a:rPr lang="en-GB" dirty="0"/>
              <a:t>); one for the user and one for the subsystem</a:t>
            </a:r>
          </a:p>
          <a:p>
            <a:pPr marL="1208088" lvl="3" indent="-334963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Object flows between the user and the subsystem</a:t>
            </a:r>
          </a:p>
          <a:p>
            <a:pPr lvl="2"/>
            <a:r>
              <a:rPr lang="en-GB" dirty="0"/>
              <a:t>No syntax error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Decision node and guard conditions, fork and join nodes</a:t>
            </a:r>
          </a:p>
          <a:p>
            <a:pPr lvl="2"/>
            <a:r>
              <a:rPr lang="en-GB" dirty="0"/>
              <a:t>Logically correct 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Consistent with the functional requirements and use case diagram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Correct sequence of interactions and the data passed between the parties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Correct guard conditions</a:t>
            </a:r>
          </a:p>
          <a:p>
            <a:pPr lvl="2"/>
            <a:r>
              <a:rPr lang="en-GB" dirty="0"/>
              <a:t>Right level of abstraction </a:t>
            </a:r>
          </a:p>
          <a:p>
            <a:pPr marL="1208088" lvl="3" indent="-314325">
              <a:spcBef>
                <a:spcPts val="0"/>
              </a:spcBef>
            </a:pPr>
            <a:r>
              <a:rPr lang="en-GB" dirty="0"/>
              <a:t>Each step of the interaction is feasible to perform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64DB7-A3EA-21AD-7441-7102410FC24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55D67-CEA5-50F3-DA3A-270033016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442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45A7BFFB-720F-FFB1-E5EB-CB77D0F30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67" y="150829"/>
            <a:ext cx="5631278" cy="47180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14BD7C-4480-9A8B-0B25-BBE28659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83310"/>
            <a:ext cx="3246578" cy="4631900"/>
          </a:xfrm>
        </p:spPr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CloudShop</a:t>
            </a:r>
            <a:r>
              <a:rPr lang="en-US" dirty="0"/>
              <a:t>-Customer Subsystem</a:t>
            </a:r>
            <a:br>
              <a:rPr lang="en-US" dirty="0"/>
            </a:br>
            <a:br>
              <a:rPr lang="en-US" dirty="0"/>
            </a:br>
            <a:r>
              <a:rPr lang="en-US" sz="24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 for the </a:t>
            </a:r>
            <a:r>
              <a:rPr lang="en-US" sz="2400" i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</a:t>
            </a:r>
            <a:r>
              <a:rPr lang="en-US" sz="24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of the Customer subsystem</a:t>
            </a:r>
            <a:endParaRPr lang="en-US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19AA3-91B8-5348-3CFE-D1270DD9631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D60DA-3BA0-5232-06FA-6CA9272F0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1C6061-D793-0842-DAD2-538B97147071}"/>
              </a:ext>
            </a:extLst>
          </p:cNvPr>
          <p:cNvSpPr/>
          <p:nvPr/>
        </p:nvSpPr>
        <p:spPr>
          <a:xfrm>
            <a:off x="3131287" y="150829"/>
            <a:ext cx="1044787" cy="27463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637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753C-369C-245C-AA7D-6F304604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Task 4(a): Architectural Design of Subsystem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DBE8F-3DB3-C1DA-5ECE-BBB9CD713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student make one architectural design for the selected subsystem</a:t>
            </a:r>
          </a:p>
          <a:p>
            <a:pPr lvl="1"/>
            <a:r>
              <a:rPr lang="en-GB" dirty="0"/>
              <a:t>In UML component diagram</a:t>
            </a:r>
          </a:p>
          <a:p>
            <a:pPr lvl="1"/>
            <a:r>
              <a:rPr lang="en-GB" dirty="0"/>
              <a:t>Use the modelling tool </a:t>
            </a:r>
            <a:r>
              <a:rPr lang="en-GB" b="1" i="1" dirty="0"/>
              <a:t>Papyrus</a:t>
            </a:r>
          </a:p>
          <a:p>
            <a:pPr lvl="1"/>
            <a:r>
              <a:rPr lang="en-GB" dirty="0"/>
              <a:t>Comply to the microservices architectural style</a:t>
            </a:r>
          </a:p>
          <a:p>
            <a:r>
              <a:rPr lang="en-GB" dirty="0"/>
              <a:t>What is a good work? </a:t>
            </a:r>
          </a:p>
          <a:p>
            <a:pPr lvl="1"/>
            <a:r>
              <a:rPr lang="en-GB" dirty="0"/>
              <a:t>Consistency with the functional requirements</a:t>
            </a:r>
          </a:p>
          <a:p>
            <a:pPr lvl="1"/>
            <a:r>
              <a:rPr lang="en-GB" dirty="0"/>
              <a:t>Consistency with the overall structure of the whole system </a:t>
            </a:r>
          </a:p>
          <a:p>
            <a:pPr lvl="1"/>
            <a:r>
              <a:rPr lang="en-GB" dirty="0"/>
              <a:t>Correct in syntax and semantics</a:t>
            </a:r>
          </a:p>
          <a:p>
            <a:pPr lvl="1"/>
            <a:r>
              <a:rPr lang="en-GB" dirty="0"/>
              <a:t>Clarity of the specification in a text document</a:t>
            </a:r>
          </a:p>
          <a:p>
            <a:pPr marL="1027113" lvl="2" indent="-309563"/>
            <a:r>
              <a:rPr lang="en-GB" dirty="0"/>
              <a:t>Functionality of each component and interface</a:t>
            </a:r>
          </a:p>
          <a:p>
            <a:pPr marL="1027113" lvl="2" indent="-309563"/>
            <a:r>
              <a:rPr lang="en-GB" dirty="0"/>
              <a:t>Meanings of the functions and parameters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FF60B-C28C-2E90-7289-81CF69A21B7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5F19F-9AF1-92D4-7DB2-BB0D62680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8326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C947-F524-444A-9866-A5998D21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chemeClr val="accent1"/>
                </a:solidFill>
              </a:rPr>
              <a:t>Case Study: </a:t>
            </a:r>
            <a:r>
              <a:rPr lang="en-GB" sz="3200" b="1" dirty="0">
                <a:solidFill>
                  <a:srgbClr val="0432FF"/>
                </a:solidFill>
              </a:rPr>
              <a:t>Mobile Shopping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7258C-FC2F-4646-B3C5-F4A79DE03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73244"/>
            <a:ext cx="8520600" cy="471501"/>
          </a:xfrm>
        </p:spPr>
        <p:txBody>
          <a:bodyPr/>
          <a:lstStyle/>
          <a:p>
            <a:r>
              <a:rPr lang="en-GB" dirty="0"/>
              <a:t>Architectural Design of Customer Subsystem (Revised)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062AF-CBA4-4D02-B63B-44231763768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3BE3-96C5-4AE6-B370-4425A57E6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BAFFDD36-23A8-35A6-A544-BF0FA15BE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30" y="1144745"/>
            <a:ext cx="7678615" cy="376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5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5712-0CF5-504E-AEE7-EB750AC4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81069"/>
            <a:ext cx="8520600" cy="674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Specification of Microservices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3E0907-C449-814D-97C3-8D2E25984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accent1"/>
                </a:solidFill>
              </a:rPr>
              <a:t>Nov.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8294B-A61C-E143-B782-7FD8A5032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chemeClr val="accent1"/>
                </a:solidFill>
              </a:rPr>
              <a:t>COMP5047: Lecture 10 - Coursework Briefing</a:t>
            </a:r>
            <a:endParaRPr lang="en-GB">
              <a:solidFill>
                <a:schemeClr val="accent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F1E9FA-2455-034D-BBCF-498D0629DC6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68741625"/>
              </p:ext>
            </p:extLst>
          </p:nvPr>
        </p:nvGraphicFramePr>
        <p:xfrm>
          <a:off x="408079" y="1491452"/>
          <a:ext cx="8327842" cy="2927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4837">
                  <a:extLst>
                    <a:ext uri="{9D8B030D-6E8A-4147-A177-3AD203B41FA5}">
                      <a16:colId xmlns:a16="http://schemas.microsoft.com/office/drawing/2014/main" val="3028766372"/>
                    </a:ext>
                  </a:extLst>
                </a:gridCol>
                <a:gridCol w="5683005">
                  <a:extLst>
                    <a:ext uri="{9D8B030D-6E8A-4147-A177-3AD203B41FA5}">
                      <a16:colId xmlns:a16="http://schemas.microsoft.com/office/drawing/2014/main" val="290525127"/>
                    </a:ext>
                  </a:extLst>
                </a:gridCol>
              </a:tblGrid>
              <a:tr h="441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Review Manager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253414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This is a microservice running on the Cloud to process customer’s reviews on products and shops.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485281"/>
                  </a:ext>
                </a:extLst>
              </a:tr>
              <a:tr h="4881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Stereo Type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Service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7844"/>
                  </a:ext>
                </a:extLst>
              </a:tr>
              <a:tr h="5077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Required Interfaces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CheckPermission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273829"/>
                  </a:ext>
                </a:extLst>
              </a:tr>
              <a:tr h="507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Provided 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Interfaces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AddReview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ViewReview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BBF980-7CB7-AEA2-A55B-621336BDAFA9}"/>
              </a:ext>
            </a:extLst>
          </p:cNvPr>
          <p:cNvSpPr txBox="1"/>
          <p:nvPr/>
        </p:nvSpPr>
        <p:spPr>
          <a:xfrm>
            <a:off x="408079" y="913202"/>
            <a:ext cx="3471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432FF"/>
                </a:solidFill>
              </a:rPr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413122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5712-0CF5-504E-AEE7-EB750AC4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2640"/>
            <a:ext cx="8741616" cy="68765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Specification of Interfaces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3E0907-C449-814D-97C3-8D2E25984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accent1"/>
                </a:solidFill>
              </a:rPr>
              <a:t>Nov.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8294B-A61C-E143-B782-7FD8A5032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chemeClr val="accent1"/>
                </a:solidFill>
              </a:rPr>
              <a:t>COMP5047: Lecture 10 - Coursework Briefing</a:t>
            </a:r>
            <a:endParaRPr lang="en-GB">
              <a:solidFill>
                <a:schemeClr val="accent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F1E9FA-2455-034D-BBCF-498D0629DC6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70394338"/>
              </p:ext>
            </p:extLst>
          </p:nvPr>
        </p:nvGraphicFramePr>
        <p:xfrm>
          <a:off x="346016" y="679364"/>
          <a:ext cx="8451967" cy="4189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565">
                  <a:extLst>
                    <a:ext uri="{9D8B030D-6E8A-4147-A177-3AD203B41FA5}">
                      <a16:colId xmlns:a16="http://schemas.microsoft.com/office/drawing/2014/main" val="3028766372"/>
                    </a:ext>
                  </a:extLst>
                </a:gridCol>
                <a:gridCol w="1054509">
                  <a:extLst>
                    <a:ext uri="{9D8B030D-6E8A-4147-A177-3AD203B41FA5}">
                      <a16:colId xmlns:a16="http://schemas.microsoft.com/office/drawing/2014/main" val="290525127"/>
                    </a:ext>
                  </a:extLst>
                </a:gridCol>
                <a:gridCol w="6194893">
                  <a:extLst>
                    <a:ext uri="{9D8B030D-6E8A-4147-A177-3AD203B41FA5}">
                      <a16:colId xmlns:a16="http://schemas.microsoft.com/office/drawing/2014/main" val="2844075809"/>
                    </a:ext>
                  </a:extLst>
                </a:gridCol>
              </a:tblGrid>
              <a:tr h="3413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Authenticate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53414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Provider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Authentication Manager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485281"/>
                  </a:ext>
                </a:extLst>
              </a:tr>
              <a:tr h="28132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</a:rPr>
                        <a:t>Operation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Signature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customerLogin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user_Id:String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password:String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ip_Address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IP_Address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):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accessToken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: String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638401"/>
                  </a:ext>
                </a:extLst>
              </a:tr>
              <a:tr h="281325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Check if the customer’s password matches the stored password. If yes, login is successful and returns 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accessToken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 Otherwise, login fails and returns an error message.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accessToken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is a string that contains data of the </a:t>
                      </a:r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customer_Id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an </a:t>
                      </a:r>
                      <a:r>
                        <a:rPr lang="en-US" sz="1600" i="1" dirty="0" err="1">
                          <a:solidFill>
                            <a:schemeClr val="tx1"/>
                          </a:solidFill>
                        </a:rPr>
                        <a:t>ip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address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and the user type (“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customer”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 in an encrypted format. It will be used to check if an access to a piece of data is permitted after decrypting it.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035598"/>
                  </a:ext>
                </a:extLst>
              </a:tr>
              <a:tr h="35007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Operation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Signature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managerLogin</a:t>
                      </a:r>
                      <a:r>
                        <a:rPr lang="en-GB" dirty="0"/>
                        <a:t>(</a:t>
                      </a:r>
                      <a:r>
                        <a:rPr lang="en-GB" dirty="0" err="1"/>
                        <a:t>user_Id</a:t>
                      </a:r>
                      <a:r>
                        <a:rPr lang="en-GB" dirty="0"/>
                        <a:t>: String, </a:t>
                      </a:r>
                      <a:r>
                        <a:rPr lang="en-GB" dirty="0" err="1"/>
                        <a:t>password:String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ip_Address:Ip_Address</a:t>
                      </a:r>
                      <a:r>
                        <a:rPr lang="en-GB" dirty="0"/>
                        <a:t>): </a:t>
                      </a:r>
                      <a:r>
                        <a:rPr lang="en-GB" dirty="0" err="1"/>
                        <a:t>accessCode</a:t>
                      </a:r>
                      <a:r>
                        <a:rPr lang="en-GB" dirty="0"/>
                        <a:t>: String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273829"/>
                  </a:ext>
                </a:extLst>
              </a:tr>
              <a:tr h="6002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Check if the password matches the store password of the user. If yes, login is successful and returns an </a:t>
                      </a:r>
                      <a:r>
                        <a:rPr lang="en-GB" dirty="0" err="1"/>
                        <a:t>accessCode</a:t>
                      </a:r>
                      <a:r>
                        <a:rPr lang="en-GB" dirty="0"/>
                        <a:t>; otherwise, login fails and returns an error message.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276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987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A7CC-BFBE-36BA-7956-E7396F88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Task 4(b): Integration of subsystems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0F382-3A2F-79CE-B221-3BBFD9F06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0050" indent="-392113"/>
            <a:r>
              <a:rPr lang="en-GB" dirty="0">
                <a:solidFill>
                  <a:schemeClr val="tx1"/>
                </a:solidFill>
              </a:rPr>
              <a:t>Each </a:t>
            </a:r>
            <a:r>
              <a:rPr lang="en-GB" b="1" i="1" dirty="0">
                <a:solidFill>
                  <a:schemeClr val="tx1"/>
                </a:solidFill>
              </a:rPr>
              <a:t>group</a:t>
            </a:r>
            <a:r>
              <a:rPr lang="en-GB" dirty="0">
                <a:solidFill>
                  <a:schemeClr val="tx1"/>
                </a:solidFill>
              </a:rPr>
              <a:t> produces </a:t>
            </a:r>
            <a:r>
              <a:rPr lang="en-GB" b="1" i="1" dirty="0">
                <a:solidFill>
                  <a:schemeClr val="tx1"/>
                </a:solidFill>
              </a:rPr>
              <a:t>one component diagram</a:t>
            </a:r>
            <a:r>
              <a:rPr lang="en-GB" dirty="0">
                <a:solidFill>
                  <a:schemeClr val="tx1"/>
                </a:solidFill>
              </a:rPr>
              <a:t> that contains all components and the interfaces between them to be on the cloud from all subsystems. </a:t>
            </a:r>
          </a:p>
          <a:p>
            <a:pPr marL="755650" lvl="1" indent="-355600"/>
            <a:r>
              <a:rPr lang="en-GB" dirty="0">
                <a:solidFill>
                  <a:schemeClr val="tx1"/>
                </a:solidFill>
              </a:rPr>
              <a:t>Contain all components from all subsystems to be run on the cloud</a:t>
            </a:r>
          </a:p>
          <a:p>
            <a:pPr marL="755650" lvl="1" indent="-355600"/>
            <a:r>
              <a:rPr lang="en-GB" dirty="0">
                <a:solidFill>
                  <a:schemeClr val="tx1"/>
                </a:solidFill>
              </a:rPr>
              <a:t>Components/interfaces from different subsystems of the same or similar functionality could be merged into one </a:t>
            </a:r>
          </a:p>
          <a:p>
            <a:pPr marL="755650" lvl="1" indent="-355600"/>
            <a:r>
              <a:rPr lang="en-GB" dirty="0">
                <a:solidFill>
                  <a:schemeClr val="tx1"/>
                </a:solidFill>
              </a:rPr>
              <a:t>Components/interfaces of the same name but of different functionalities should be renamed to avoid naming conflictions</a:t>
            </a:r>
          </a:p>
          <a:p>
            <a:pPr marL="363538" indent="-355600"/>
            <a:r>
              <a:rPr lang="en-GB" dirty="0">
                <a:solidFill>
                  <a:schemeClr val="tx1"/>
                </a:solidFill>
              </a:rPr>
              <a:t>Each </a:t>
            </a:r>
            <a:r>
              <a:rPr lang="en-GB" b="1" i="1" dirty="0">
                <a:solidFill>
                  <a:schemeClr val="tx1"/>
                </a:solidFill>
              </a:rPr>
              <a:t>member</a:t>
            </a:r>
            <a:r>
              <a:rPr lang="en-GB" dirty="0">
                <a:solidFill>
                  <a:schemeClr val="tx1"/>
                </a:solidFill>
              </a:rPr>
              <a:t> of the group to revise the architectural design of the subsystem according to the results of integration</a:t>
            </a:r>
          </a:p>
          <a:p>
            <a:pPr marL="114300" indent="0">
              <a:buNone/>
            </a:pPr>
            <a:endParaRPr lang="en-GB" sz="3200" dirty="0">
              <a:solidFill>
                <a:schemeClr val="tx1"/>
              </a:solidFill>
            </a:endParaRPr>
          </a:p>
          <a:p>
            <a:endParaRPr lang="en-GB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120C-D3D3-FC72-273F-6FB858D2ED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209D6-B54C-B24C-7A15-A78E82236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122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CF614-2400-DEA6-F8A1-3E11606B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of Subsystems: </a:t>
            </a:r>
            <a:r>
              <a:rPr lang="en-GB" dirty="0">
                <a:solidFill>
                  <a:srgbClr val="0432FF"/>
                </a:solidFill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B54CA-3D75-1266-6E82-F822F4C8E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56918"/>
            <a:ext cx="8520600" cy="4103618"/>
          </a:xfrm>
        </p:spPr>
        <p:txBody>
          <a:bodyPr/>
          <a:lstStyle/>
          <a:p>
            <a:pPr marL="358775" indent="-344488"/>
            <a:r>
              <a:rPr lang="en-GB" dirty="0">
                <a:solidFill>
                  <a:schemeClr val="tx1"/>
                </a:solidFill>
              </a:rPr>
              <a:t>Example: </a:t>
            </a:r>
            <a:r>
              <a:rPr lang="en-GB" b="1" i="1" dirty="0">
                <a:solidFill>
                  <a:schemeClr val="tx1"/>
                </a:solidFill>
              </a:rPr>
              <a:t>Authentication</a:t>
            </a:r>
            <a:r>
              <a:rPr lang="en-GB" dirty="0">
                <a:solidFill>
                  <a:schemeClr val="tx1"/>
                </a:solidFill>
              </a:rPr>
              <a:t> components</a:t>
            </a:r>
          </a:p>
          <a:p>
            <a:pPr marL="755650" indent="-350838">
              <a:buFont typeface="Wingdings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Every subsystem has a component for managing the authentications of users and controlling access to data</a:t>
            </a:r>
          </a:p>
          <a:p>
            <a:pPr marL="755650" indent="-350838">
              <a:buFont typeface="Wingdings" pitchFamily="2" charset="2"/>
              <a:buChar char="Ø"/>
            </a:pPr>
            <a:r>
              <a:rPr lang="en-GB" dirty="0">
                <a:solidFill>
                  <a:schemeClr val="tx1"/>
                </a:solidFill>
              </a:rPr>
              <a:t>These authentication manager components may be different </a:t>
            </a:r>
          </a:p>
          <a:p>
            <a:pPr marL="1114425" lvl="2" indent="-307975">
              <a:buSzPct val="100000"/>
            </a:pPr>
            <a:r>
              <a:rPr lang="en-GB" dirty="0">
                <a:solidFill>
                  <a:schemeClr val="tx1"/>
                </a:solidFill>
              </a:rPr>
              <a:t>Different types of users should be given different access tokens</a:t>
            </a:r>
          </a:p>
          <a:p>
            <a:pPr marL="1114425" lvl="2" indent="-307975">
              <a:buSzPct val="100000"/>
            </a:pPr>
            <a:r>
              <a:rPr lang="en-GB" dirty="0">
                <a:solidFill>
                  <a:schemeClr val="tx1"/>
                </a:solidFill>
              </a:rPr>
              <a:t>Different functions for check permissions for different types of users</a:t>
            </a:r>
          </a:p>
          <a:p>
            <a:pPr marL="1114425" lvl="2" indent="-307975">
              <a:buSzPct val="100000"/>
            </a:pPr>
            <a:r>
              <a:rPr lang="en-GB" dirty="0">
                <a:solidFill>
                  <a:schemeClr val="tx1"/>
                </a:solidFill>
              </a:rPr>
              <a:t>Different interfaces to connect to the components in different subsystems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C889F-FBC9-F21D-068E-A438B7F9057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C1AB7-4511-CF21-28BD-A7EB66B9B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6354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C9D0-6C31-D445-5C32-ACE2B22B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Possible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48A01-D100-8B5D-CC3D-89BDEE0F8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86822"/>
            <a:ext cx="4260300" cy="4373367"/>
          </a:xfrm>
        </p:spPr>
        <p:txBody>
          <a:bodyPr/>
          <a:lstStyle/>
          <a:p>
            <a:pPr marL="6350" indent="0" algn="ctr">
              <a:buNone/>
            </a:pPr>
            <a:r>
              <a:rPr lang="en-GB" sz="2800" dirty="0"/>
              <a:t>For Components</a:t>
            </a:r>
          </a:p>
          <a:p>
            <a:r>
              <a:rPr lang="en-GB" dirty="0"/>
              <a:t>Solution 1: </a:t>
            </a:r>
          </a:p>
          <a:p>
            <a:pPr marL="663575" lvl="1" indent="-342900">
              <a:buSzPct val="100000"/>
            </a:pPr>
            <a:r>
              <a:rPr lang="en-GB" dirty="0">
                <a:solidFill>
                  <a:schemeClr val="tx1"/>
                </a:solidFill>
              </a:rPr>
              <a:t>Merge all authentication components into one</a:t>
            </a:r>
          </a:p>
          <a:p>
            <a:pPr marL="663575" lvl="1" indent="-342900">
              <a:buSzPct val="100000"/>
            </a:pPr>
            <a:r>
              <a:rPr lang="en-GB" dirty="0">
                <a:solidFill>
                  <a:schemeClr val="tx1"/>
                </a:solidFill>
              </a:rPr>
              <a:t>Revise the specification of the component</a:t>
            </a:r>
          </a:p>
          <a:p>
            <a:r>
              <a:rPr lang="en-GB" dirty="0"/>
              <a:t>Solution 2: </a:t>
            </a:r>
          </a:p>
          <a:p>
            <a:pPr marL="657225" lvl="1" indent="-342900">
              <a:buClr>
                <a:srgbClr val="000000"/>
              </a:buClr>
              <a:buSzTx/>
              <a:defRPr/>
            </a:pPr>
            <a:r>
              <a:rPr lang="en-GB" dirty="0">
                <a:solidFill>
                  <a:schemeClr val="tx1"/>
                </a:solidFill>
              </a:rPr>
              <a:t>Keep all authentication components separate</a:t>
            </a:r>
          </a:p>
          <a:p>
            <a:pPr marL="657225" lvl="1" indent="-342900">
              <a:buClr>
                <a:srgbClr val="000000"/>
              </a:buClr>
              <a:buSzTx/>
              <a:defRPr/>
            </a:pPr>
            <a:r>
              <a:rPr lang="en-GB" dirty="0">
                <a:solidFill>
                  <a:schemeClr val="tx1"/>
                </a:solidFill>
              </a:rPr>
              <a:t>Rename them to different names, e.g. </a:t>
            </a:r>
            <a:r>
              <a:rPr lang="en-GB" dirty="0">
                <a:solidFill>
                  <a:srgbClr val="0432FF"/>
                </a:solidFill>
              </a:rPr>
              <a:t>Customer Authentication Manager</a:t>
            </a:r>
            <a:r>
              <a:rPr lang="en-GB" dirty="0">
                <a:solidFill>
                  <a:schemeClr val="tx1"/>
                </a:solidFill>
              </a:rPr>
              <a:t>,  </a:t>
            </a:r>
            <a:r>
              <a:rPr lang="en-GB" dirty="0">
                <a:solidFill>
                  <a:srgbClr val="0432FF"/>
                </a:solidFill>
              </a:rPr>
              <a:t>Staff Authentication Manager</a:t>
            </a:r>
            <a:r>
              <a:rPr lang="en-GB" dirty="0">
                <a:solidFill>
                  <a:schemeClr val="tx1"/>
                </a:solidFill>
              </a:rPr>
              <a:t>, etc. </a:t>
            </a:r>
          </a:p>
          <a:p>
            <a:pPr lvl="1"/>
            <a:endParaRPr lang="en-GB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4E6C6-FCC4-1AD9-B38E-76D608343B6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DDFE1-9285-9425-8E1A-581FAD028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F743474-5036-56F1-ECC3-4710B902CB7A}"/>
              </a:ext>
            </a:extLst>
          </p:cNvPr>
          <p:cNvSpPr txBox="1">
            <a:spLocks/>
          </p:cNvSpPr>
          <p:nvPr/>
        </p:nvSpPr>
        <p:spPr>
          <a:xfrm>
            <a:off x="4703974" y="687490"/>
            <a:ext cx="4128325" cy="4091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12738" marR="0" lvl="0" indent="-30638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itchFamily="2" charset="2"/>
              <a:buChar char="v"/>
              <a:tabLst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27063" marR="0" lvl="1" indent="-31432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ingdings" pitchFamily="2" charset="2"/>
              <a:buChar char="Ø"/>
              <a:tabLst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0" marR="0" lvl="2" indent="-26193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tabLst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indent="0" algn="ctr">
              <a:buNone/>
            </a:pPr>
            <a:r>
              <a:rPr lang="en-GB" sz="2800" dirty="0"/>
              <a:t>For interfaces</a:t>
            </a:r>
          </a:p>
          <a:p>
            <a:r>
              <a:rPr lang="en-GB" dirty="0"/>
              <a:t>Solution 1: </a:t>
            </a:r>
          </a:p>
          <a:p>
            <a:pPr marL="600075" lvl="1" indent="-285750"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chemeClr val="tx1"/>
                </a:solidFill>
              </a:rPr>
              <a:t>Merge different interfaces into one</a:t>
            </a:r>
          </a:p>
          <a:p>
            <a:pPr marL="600075" lvl="1" indent="-285750"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chemeClr val="tx1"/>
                </a:solidFill>
              </a:rPr>
              <a:t>Reconnect it to the other components </a:t>
            </a:r>
            <a:endParaRPr lang="en-GB" sz="4400" dirty="0"/>
          </a:p>
          <a:p>
            <a:r>
              <a:rPr lang="en-GB" dirty="0"/>
              <a:t>Solution 2: </a:t>
            </a:r>
          </a:p>
          <a:p>
            <a:pPr marL="600075" lvl="1" indent="-285750"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chemeClr val="tx1"/>
                </a:solidFill>
              </a:rPr>
              <a:t>Keep interfaces separate</a:t>
            </a:r>
          </a:p>
          <a:p>
            <a:pPr marL="600075" lvl="1" indent="-285750"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chemeClr val="tx1"/>
                </a:solidFill>
              </a:rPr>
              <a:t>Rename interfaces if names conflict with each other, e.g. customer login, staff login, etc. </a:t>
            </a:r>
            <a:endParaRPr lang="en-GB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072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E6AC-AE63-F130-1777-D2C48832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 Detailed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94EC7-686A-CC3B-3408-531BA4460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70966"/>
            <a:ext cx="8670068" cy="4007610"/>
          </a:xfrm>
        </p:spPr>
        <p:txBody>
          <a:bodyPr/>
          <a:lstStyle/>
          <a:p>
            <a:r>
              <a:rPr lang="en-GB" dirty="0"/>
              <a:t>Task 5(a) Structural Design of Microservices</a:t>
            </a:r>
          </a:p>
          <a:p>
            <a:pPr lvl="1"/>
            <a:r>
              <a:rPr lang="en-GB" dirty="0"/>
              <a:t>Select one microservice in your architectural design of the subsystem</a:t>
            </a:r>
          </a:p>
          <a:p>
            <a:pPr lvl="1"/>
            <a:r>
              <a:rPr lang="en-GB" dirty="0"/>
              <a:t>Draw a class diagram to model how to implement the selected microservice from structural point of view</a:t>
            </a:r>
          </a:p>
          <a:p>
            <a:pPr lvl="2"/>
            <a:r>
              <a:rPr lang="en-GB" b="1" i="1" dirty="0"/>
              <a:t>Attributes</a:t>
            </a:r>
            <a:r>
              <a:rPr lang="en-GB" dirty="0"/>
              <a:t> and their types, visibility</a:t>
            </a:r>
          </a:p>
          <a:p>
            <a:pPr lvl="2"/>
            <a:r>
              <a:rPr lang="en-GB" b="1" i="1" dirty="0"/>
              <a:t>Methods</a:t>
            </a:r>
            <a:r>
              <a:rPr lang="en-GB" dirty="0"/>
              <a:t>, the parameters and their types, visibility</a:t>
            </a:r>
          </a:p>
          <a:p>
            <a:pPr lvl="2"/>
            <a:r>
              <a:rPr lang="en-GB" b="1" i="1" dirty="0"/>
              <a:t>Relations</a:t>
            </a:r>
            <a:r>
              <a:rPr lang="en-GB" dirty="0"/>
              <a:t>: </a:t>
            </a:r>
          </a:p>
          <a:p>
            <a:pPr marL="1203325" lvl="3" indent="-323850">
              <a:lnSpc>
                <a:spcPct val="100000"/>
              </a:lnSpc>
              <a:spcBef>
                <a:spcPts val="0"/>
              </a:spcBef>
            </a:pPr>
            <a:r>
              <a:rPr lang="en-GB" sz="1800" dirty="0"/>
              <a:t>Associate, whole-part, inheritance </a:t>
            </a:r>
          </a:p>
          <a:p>
            <a:pPr marL="1203325" lvl="3" indent="-323850">
              <a:lnSpc>
                <a:spcPct val="100000"/>
              </a:lnSpc>
              <a:spcBef>
                <a:spcPts val="0"/>
              </a:spcBef>
            </a:pPr>
            <a:r>
              <a:rPr lang="en-GB" sz="1800" dirty="0"/>
              <a:t>Multiplicity, names  </a:t>
            </a:r>
          </a:p>
          <a:p>
            <a:pPr lvl="1"/>
            <a:r>
              <a:rPr lang="en-GB" sz="1800" dirty="0"/>
              <a:t>What is a good work?</a:t>
            </a:r>
          </a:p>
          <a:p>
            <a:pPr lvl="2"/>
            <a:r>
              <a:rPr lang="en-GB" b="1" i="1" dirty="0"/>
              <a:t>Correct</a:t>
            </a:r>
            <a:r>
              <a:rPr lang="en-GB" dirty="0"/>
              <a:t>: syntax and semantics</a:t>
            </a:r>
          </a:p>
          <a:p>
            <a:pPr lvl="2"/>
            <a:r>
              <a:rPr lang="en-GB" b="1" i="1" dirty="0"/>
              <a:t>Complete</a:t>
            </a:r>
            <a:r>
              <a:rPr lang="en-GB" dirty="0"/>
              <a:t>: contains all classes, attributes and methods needed</a:t>
            </a:r>
          </a:p>
          <a:p>
            <a:pPr lvl="2"/>
            <a:r>
              <a:rPr lang="en-GB" b="1" i="1" dirty="0"/>
              <a:t>Non-trivial</a:t>
            </a:r>
            <a:r>
              <a:rPr lang="en-GB" dirty="0"/>
              <a:t>: select a component that is not too simple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B295F-F113-E16F-8370-6510428EEEA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3D296-79F3-6F14-47F6-4C799D966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2C0A3-FD0F-C6AA-11BE-963552340439}"/>
              </a:ext>
            </a:extLst>
          </p:cNvPr>
          <p:cNvSpPr txBox="1"/>
          <p:nvPr/>
        </p:nvSpPr>
        <p:spPr>
          <a:xfrm>
            <a:off x="5882326" y="2969443"/>
            <a:ext cx="279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i="1" dirty="0">
                <a:solidFill>
                  <a:srgbClr val="0432FF"/>
                </a:solidFill>
              </a:rPr>
              <a:t>Use the UML modelling tool Papyrus </a:t>
            </a:r>
          </a:p>
        </p:txBody>
      </p:sp>
    </p:spTree>
    <p:extLst>
      <p:ext uri="{BB962C8B-B14F-4D97-AF65-F5344CB8AC3E}">
        <p14:creationId xmlns:p14="http://schemas.microsoft.com/office/powerpoint/2010/main" val="3988868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server&#10;&#10;AI-generated content may be incorrect.">
            <a:extLst>
              <a:ext uri="{FF2B5EF4-FFF2-40B4-BE49-F238E27FC236}">
                <a16:creationId xmlns:a16="http://schemas.microsoft.com/office/drawing/2014/main" id="{076899EC-CADF-AB68-DF41-25EDDFF4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135" y="804279"/>
            <a:ext cx="6489181" cy="4055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59CEA-FB25-4A5F-ABDB-5E031DC5E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83310"/>
            <a:ext cx="8520600" cy="687655"/>
          </a:xfrm>
        </p:spPr>
        <p:txBody>
          <a:bodyPr/>
          <a:lstStyle/>
          <a:p>
            <a:r>
              <a:rPr lang="en-GB" sz="2800" b="1" dirty="0">
                <a:solidFill>
                  <a:schemeClr val="accent1"/>
                </a:solidFill>
              </a:rPr>
              <a:t>Detailed Design: </a:t>
            </a:r>
            <a:r>
              <a:rPr lang="en-GB" sz="2800" b="1" dirty="0">
                <a:solidFill>
                  <a:srgbClr val="0432FF"/>
                </a:solidFill>
              </a:rPr>
              <a:t>Example:</a:t>
            </a:r>
            <a:r>
              <a:rPr lang="en-GB" sz="2800" b="1" dirty="0">
                <a:solidFill>
                  <a:schemeClr val="accent1"/>
                </a:solidFill>
              </a:rPr>
              <a:t> </a:t>
            </a:r>
            <a:r>
              <a:rPr lang="en-GB" sz="2800" b="1" dirty="0">
                <a:solidFill>
                  <a:srgbClr val="0432FF"/>
                </a:solidFill>
              </a:rPr>
              <a:t>The</a:t>
            </a:r>
            <a:r>
              <a:rPr lang="en-GB" sz="2800" b="1" dirty="0">
                <a:solidFill>
                  <a:schemeClr val="accent1"/>
                </a:solidFill>
              </a:rPr>
              <a:t> </a:t>
            </a:r>
            <a:r>
              <a:rPr lang="en-GB" sz="2800" b="1" dirty="0">
                <a:solidFill>
                  <a:srgbClr val="0432FF"/>
                </a:solidFill>
              </a:rPr>
              <a:t>Review Manager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1BDEF-2429-479C-A819-5FBFDC96135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62CF2-0F02-4E9A-90D5-0215FDA30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0F63-8F60-4C48-9DC8-B6DD9DD2A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077" y="726480"/>
            <a:ext cx="1939857" cy="1532752"/>
          </a:xfrm>
        </p:spPr>
        <p:txBody>
          <a:bodyPr/>
          <a:lstStyle/>
          <a:p>
            <a:r>
              <a:rPr lang="en-GB" dirty="0"/>
              <a:t>Structural Design (Class Diagram)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92EEAF-E594-E47E-EA76-197E02678C9B}"/>
              </a:ext>
            </a:extLst>
          </p:cNvPr>
          <p:cNvSpPr/>
          <p:nvPr/>
        </p:nvSpPr>
        <p:spPr>
          <a:xfrm>
            <a:off x="2305820" y="740560"/>
            <a:ext cx="2134205" cy="1974360"/>
          </a:xfrm>
          <a:prstGeom prst="roundRect">
            <a:avLst>
              <a:gd name="adj" fmla="val 11642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0387B-FE1C-004F-ED47-F5329A438A5B}"/>
              </a:ext>
            </a:extLst>
          </p:cNvPr>
          <p:cNvSpPr txBox="1"/>
          <p:nvPr/>
        </p:nvSpPr>
        <p:spPr>
          <a:xfrm>
            <a:off x="205371" y="2944121"/>
            <a:ext cx="1939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0432FF"/>
                </a:solidFill>
              </a:rPr>
              <a:t>Interfaces provided by the microservice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E58928-8CB7-1755-ACC6-16FA66A9C8BD}"/>
              </a:ext>
            </a:extLst>
          </p:cNvPr>
          <p:cNvCxnSpPr>
            <a:cxnSpLocks/>
          </p:cNvCxnSpPr>
          <p:nvPr/>
        </p:nvCxnSpPr>
        <p:spPr>
          <a:xfrm flipV="1">
            <a:off x="1656287" y="2541081"/>
            <a:ext cx="632090" cy="434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1D15CA8-C6F0-BE44-6159-B06AF0B5EAA6}"/>
              </a:ext>
            </a:extLst>
          </p:cNvPr>
          <p:cNvSpPr/>
          <p:nvPr/>
        </p:nvSpPr>
        <p:spPr>
          <a:xfrm>
            <a:off x="6664218" y="1301287"/>
            <a:ext cx="2244098" cy="796434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D09A42-3195-CC45-2F7F-E409E747A4D8}"/>
              </a:ext>
            </a:extLst>
          </p:cNvPr>
          <p:cNvSpPr txBox="1"/>
          <p:nvPr/>
        </p:nvSpPr>
        <p:spPr>
          <a:xfrm>
            <a:off x="5058253" y="756623"/>
            <a:ext cx="1939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0432FF"/>
                </a:solidFill>
              </a:rPr>
              <a:t>Interfaces required by the microservice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8B5F0C-C9B5-390D-D47E-DB2146276C83}"/>
              </a:ext>
            </a:extLst>
          </p:cNvPr>
          <p:cNvCxnSpPr>
            <a:cxnSpLocks/>
          </p:cNvCxnSpPr>
          <p:nvPr/>
        </p:nvCxnSpPr>
        <p:spPr>
          <a:xfrm>
            <a:off x="6221691" y="1197204"/>
            <a:ext cx="442527" cy="247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80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45E3-6C01-31BD-A790-928A065B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563D-4CA1-3548-D210-037BBBC8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 Detailed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34E0E-0778-1338-6307-ADFEB50EA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Task 5(b) Behaviour Design of Microservices</a:t>
            </a:r>
          </a:p>
          <a:p>
            <a:pPr lvl="1"/>
            <a:r>
              <a:rPr lang="en-GB" dirty="0"/>
              <a:t>Use the same selected one microservice in your work on Task 5(a) </a:t>
            </a:r>
          </a:p>
          <a:p>
            <a:pPr lvl="1"/>
            <a:r>
              <a:rPr lang="en-GB" dirty="0"/>
              <a:t>Draw a sequence diagram to model how to implement the selected microservice from behaviour point of view</a:t>
            </a:r>
          </a:p>
          <a:p>
            <a:pPr lvl="2"/>
            <a:r>
              <a:rPr lang="en-GB" dirty="0"/>
              <a:t>Lifelines: the heads should be classes in the class diagram (including interfaces provided and required)</a:t>
            </a:r>
          </a:p>
          <a:p>
            <a:pPr lvl="2"/>
            <a:r>
              <a:rPr lang="en-GB" dirty="0"/>
              <a:t>Fragments (also called frames in old versions of UML): must be used to model different sequences of interactions between objects of different types</a:t>
            </a:r>
          </a:p>
          <a:p>
            <a:pPr lvl="2"/>
            <a:r>
              <a:rPr lang="en-GB" dirty="0"/>
              <a:t>Messages: </a:t>
            </a:r>
          </a:p>
          <a:p>
            <a:pPr marL="1203325" lvl="3" indent="-32385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Labels must match the signature of a method of the receiving object</a:t>
            </a:r>
          </a:p>
          <a:p>
            <a:pPr marL="1203325" lvl="3" indent="-32385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Arrows must correct to represent the right type: synchronous, asynchronous, reply, found, lost, object creation and object destruction </a:t>
            </a:r>
          </a:p>
          <a:p>
            <a:pPr marL="1203325" lvl="3" indent="-323850">
              <a:lnSpc>
                <a:spcPct val="100000"/>
              </a:lnSpc>
              <a:spcBef>
                <a:spcPts val="0"/>
              </a:spcBef>
            </a:pPr>
            <a:r>
              <a:rPr lang="en-GB" dirty="0"/>
              <a:t>Orders and the uses of fragments must be semantically correct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5830D-84AB-A928-E1CA-DCE68663514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DE9D7-296A-2248-8E22-C7BABD0FF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8870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C45FC-66EF-900C-4D86-E096985E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E46F-6455-2FD9-D9E0-1A43F229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>
                <a:solidFill>
                  <a:schemeClr val="accent1"/>
                </a:solidFill>
              </a:rPr>
              <a:t>Detailed Design: </a:t>
            </a:r>
            <a:r>
              <a:rPr lang="en-GB" sz="2800" b="1" dirty="0">
                <a:solidFill>
                  <a:srgbClr val="0432FF"/>
                </a:solidFill>
              </a:rPr>
              <a:t>Review Manager Component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A48E7-BEF4-0CBC-675E-39EDD2C74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67050"/>
            <a:ext cx="4315008" cy="1011194"/>
          </a:xfrm>
        </p:spPr>
        <p:txBody>
          <a:bodyPr/>
          <a:lstStyle/>
          <a:p>
            <a:r>
              <a:rPr lang="en-GB" sz="2800" dirty="0"/>
              <a:t>Dynamic behaviour </a:t>
            </a:r>
          </a:p>
          <a:p>
            <a:pPr marL="6350" indent="0">
              <a:buNone/>
            </a:pPr>
            <a:r>
              <a:rPr lang="en-GB" sz="2800" dirty="0"/>
              <a:t>    (sequence diagram)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850F7-BF65-9B60-BE33-9990BFCCF75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0BB4A-66B5-81B2-2E60-0DD6EDA80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pic>
        <p:nvPicPr>
          <p:cNvPr id="9" name="Picture 8" descr="A close-up of a diagram&#10;&#10;AI-generated content may be incorrect.">
            <a:extLst>
              <a:ext uri="{FF2B5EF4-FFF2-40B4-BE49-F238E27FC236}">
                <a16:creationId xmlns:a16="http://schemas.microsoft.com/office/drawing/2014/main" id="{B9E19AE2-1155-A68A-7085-D250173BE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649" y="607471"/>
            <a:ext cx="3240955" cy="42525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423060-4C2F-C972-2C46-B6DF127F76BA}"/>
              </a:ext>
            </a:extLst>
          </p:cNvPr>
          <p:cNvSpPr txBox="1"/>
          <p:nvPr/>
        </p:nvSpPr>
        <p:spPr>
          <a:xfrm>
            <a:off x="460651" y="1839798"/>
            <a:ext cx="46970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432FF"/>
                </a:solidFill>
              </a:rPr>
              <a:t>Four parts of Alt fragments, one for each type of service requests: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432FF"/>
                </a:solidFill>
              </a:rPr>
              <a:t>View product reviews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432FF"/>
                </a:solidFill>
              </a:rPr>
              <a:t>View shop reviews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432FF"/>
                </a:solidFill>
              </a:rPr>
              <a:t>Add a product review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solidFill>
                  <a:srgbClr val="0432FF"/>
                </a:solidFill>
              </a:rPr>
              <a:t>Add a shop review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83322B-1CEA-3813-1B02-B3FBE666C7CA}"/>
              </a:ext>
            </a:extLst>
          </p:cNvPr>
          <p:cNvCxnSpPr/>
          <p:nvPr/>
        </p:nvCxnSpPr>
        <p:spPr>
          <a:xfrm flipV="1">
            <a:off x="3892062" y="1336431"/>
            <a:ext cx="1750646" cy="1492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632D0E-166C-0966-2240-6C0ABA165B20}"/>
              </a:ext>
            </a:extLst>
          </p:cNvPr>
          <p:cNvCxnSpPr>
            <a:cxnSpLocks/>
          </p:cNvCxnSpPr>
          <p:nvPr/>
        </p:nvCxnSpPr>
        <p:spPr>
          <a:xfrm flipV="1">
            <a:off x="3837352" y="2082800"/>
            <a:ext cx="1805356" cy="108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10D6CE-87DD-3F35-E3C3-C7CF17B2EF18}"/>
              </a:ext>
            </a:extLst>
          </p:cNvPr>
          <p:cNvCxnSpPr>
            <a:cxnSpLocks/>
          </p:cNvCxnSpPr>
          <p:nvPr/>
        </p:nvCxnSpPr>
        <p:spPr>
          <a:xfrm flipV="1">
            <a:off x="3837352" y="2733744"/>
            <a:ext cx="1805356" cy="805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8A92D4-3A5A-3AE8-13D0-94C8E26C9CFB}"/>
              </a:ext>
            </a:extLst>
          </p:cNvPr>
          <p:cNvCxnSpPr>
            <a:cxnSpLocks/>
          </p:cNvCxnSpPr>
          <p:nvPr/>
        </p:nvCxnSpPr>
        <p:spPr>
          <a:xfrm flipV="1">
            <a:off x="3837352" y="3815968"/>
            <a:ext cx="1805356" cy="9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600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4060E-F67C-5235-5DE2-C1827E55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DF4D-2112-6C0B-C4A3-DB50BB6A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>
                <a:solidFill>
                  <a:schemeClr val="accent1"/>
                </a:solidFill>
              </a:rPr>
              <a:t>Detailed Design: </a:t>
            </a:r>
            <a:r>
              <a:rPr lang="en-GB" sz="2800" b="1" dirty="0">
                <a:solidFill>
                  <a:srgbClr val="0432FF"/>
                </a:solidFill>
              </a:rPr>
              <a:t>Review Manager Component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CB41E-3BDB-47E6-3190-94AC21E88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67052"/>
            <a:ext cx="7636546" cy="583412"/>
          </a:xfrm>
        </p:spPr>
        <p:txBody>
          <a:bodyPr/>
          <a:lstStyle/>
          <a:p>
            <a:r>
              <a:rPr lang="en-GB" dirty="0"/>
              <a:t>Fragment for adding a product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5A4AF-C5B2-AF4D-C912-2A4ED05A26C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95E35-FAD1-A42B-1329-9EDCF5C78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9 Behaviour Models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C09997-D30A-5BD4-586B-1DEDF41BF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12" y="1250464"/>
            <a:ext cx="8078944" cy="841894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F4990D-58CC-3E4C-FF8C-A94F3BF6C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15" y="2089702"/>
            <a:ext cx="8146563" cy="277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51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ABB0-EA0B-AAD0-B038-98A6115E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Be Submitted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C0F81-4A1F-94E5-5007-E1489FEC4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52212"/>
            <a:ext cx="8520600" cy="512144"/>
          </a:xfrm>
        </p:spPr>
        <p:txBody>
          <a:bodyPr/>
          <a:lstStyle/>
          <a:p>
            <a:r>
              <a:rPr lang="en-GB" dirty="0"/>
              <a:t>One zip file from each group containing the following files</a:t>
            </a:r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D3077-5A9D-BB27-0E23-6A7C48768E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EDE11-3BD6-0AB2-484D-CC8DA01A99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749334-1635-8F72-09B9-A3F95C80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152263"/>
              </p:ext>
            </p:extLst>
          </p:nvPr>
        </p:nvGraphicFramePr>
        <p:xfrm>
          <a:off x="471948" y="1169494"/>
          <a:ext cx="8360352" cy="27434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60291">
                  <a:extLst>
                    <a:ext uri="{9D8B030D-6E8A-4147-A177-3AD203B41FA5}">
                      <a16:colId xmlns:a16="http://schemas.microsoft.com/office/drawing/2014/main" val="402404077"/>
                    </a:ext>
                  </a:extLst>
                </a:gridCol>
                <a:gridCol w="943432">
                  <a:extLst>
                    <a:ext uri="{9D8B030D-6E8A-4147-A177-3AD203B41FA5}">
                      <a16:colId xmlns:a16="http://schemas.microsoft.com/office/drawing/2014/main" val="1829293089"/>
                    </a:ext>
                  </a:extLst>
                </a:gridCol>
                <a:gridCol w="4356629">
                  <a:extLst>
                    <a:ext uri="{9D8B030D-6E8A-4147-A177-3AD203B41FA5}">
                      <a16:colId xmlns:a16="http://schemas.microsoft.com/office/drawing/2014/main" val="2768180027"/>
                    </a:ext>
                  </a:extLst>
                </a:gridCol>
              </a:tblGrid>
              <a:tr h="293836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File name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Format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Content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7096224"/>
                  </a:ext>
                </a:extLst>
              </a:tr>
              <a:tr h="587673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COMP5047_CW_ </a:t>
                      </a:r>
                      <a:r>
                        <a:rPr lang="en-GB" sz="1800" dirty="0" err="1">
                          <a:effectLst/>
                        </a:rPr>
                        <a:t>Gxx.zip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Zip file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The zip file that contains all the files of the group’s coursework submission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3820326"/>
                  </a:ext>
                </a:extLst>
              </a:tr>
              <a:tr h="293836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Cover_Gxx.pdf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Group coursework cover page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8657558"/>
                  </a:ext>
                </a:extLst>
              </a:tr>
              <a:tr h="293836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TeamPart_Gxx.pdf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See next slide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0663503"/>
                  </a:ext>
                </a:extLst>
              </a:tr>
              <a:tr h="327429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Member_Gxx_StdNum1.pdf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Work of student 1900002; See slide 26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8592007"/>
                  </a:ext>
                </a:extLst>
              </a:tr>
              <a:tr h="293836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Member_Gxx_StdNum2.pdf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Same as above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3616674"/>
                  </a:ext>
                </a:extLst>
              </a:tr>
              <a:tr h="32648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Member_Gxx_StdNum3.pdf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>
                          <a:effectLst/>
                        </a:rPr>
                        <a:t>Same as above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857649"/>
                  </a:ext>
                </a:extLst>
              </a:tr>
              <a:tr h="326484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Member_Gxx_StdNum4.pdf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PDF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>
                          <a:effectLst/>
                        </a:rPr>
                        <a:t>Same as above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21716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3B5E93F-950B-B70D-9D75-DBEBC092FEE5}"/>
              </a:ext>
            </a:extLst>
          </p:cNvPr>
          <p:cNvSpPr txBox="1"/>
          <p:nvPr/>
        </p:nvSpPr>
        <p:spPr>
          <a:xfrm>
            <a:off x="4971198" y="165527"/>
            <a:ext cx="3951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 err="1">
                <a:solidFill>
                  <a:srgbClr val="FF0000"/>
                </a:solidFill>
                <a:effectLst/>
              </a:rPr>
              <a:t>Gxx</a:t>
            </a:r>
            <a:r>
              <a:rPr lang="en-GB" sz="1600" i="1" dirty="0">
                <a:solidFill>
                  <a:srgbClr val="0432FF"/>
                </a:solidFill>
                <a:effectLst/>
              </a:rPr>
              <a:t> is your coursework group number</a:t>
            </a:r>
            <a:endParaRPr lang="en-GB" sz="1600" i="1" dirty="0">
              <a:solidFill>
                <a:srgbClr val="0432FF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2A459-401D-7F7E-C071-8F14B093BEC8}"/>
              </a:ext>
            </a:extLst>
          </p:cNvPr>
          <p:cNvCxnSpPr/>
          <p:nvPr/>
        </p:nvCxnSpPr>
        <p:spPr>
          <a:xfrm flipH="1">
            <a:off x="2883310" y="476701"/>
            <a:ext cx="2212258" cy="10163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899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A5B0-F11F-5686-57BE-1C58A125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Team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80D09-844C-EC4D-02D7-FD64CC59E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" indent="0">
              <a:buNone/>
            </a:pPr>
            <a:r>
              <a:rPr lang="en-GB" dirty="0"/>
              <a:t>1. Team organisation</a:t>
            </a:r>
          </a:p>
          <a:p>
            <a:pPr marL="312738" lvl="1" indent="0">
              <a:buNone/>
            </a:pPr>
            <a:r>
              <a:rPr lang="en-GB" dirty="0"/>
              <a:t>A list (or a table) of team members</a:t>
            </a:r>
          </a:p>
          <a:p>
            <a:pPr lvl="1"/>
            <a:r>
              <a:rPr lang="en-GB" dirty="0"/>
              <a:t>Give names and student numbers with the name of the subsystem developed</a:t>
            </a:r>
          </a:p>
          <a:p>
            <a:pPr lvl="1"/>
            <a:r>
              <a:rPr lang="en-GB" dirty="0"/>
              <a:t>Indicate who is the team leader </a:t>
            </a:r>
          </a:p>
          <a:p>
            <a:pPr marL="6350" indent="0">
              <a:buNone/>
            </a:pPr>
            <a:r>
              <a:rPr lang="en-GB" dirty="0"/>
              <a:t>2. Team collaboration mechanisms and facilities</a:t>
            </a:r>
          </a:p>
          <a:p>
            <a:pPr marL="320675" lvl="1" indent="0">
              <a:buNone/>
            </a:pPr>
            <a:r>
              <a:rPr lang="en-GB" dirty="0"/>
              <a:t>See </a:t>
            </a:r>
            <a:r>
              <a:rPr lang="en-GB" b="1" dirty="0">
                <a:solidFill>
                  <a:srgbClr val="FF0000"/>
                </a:solidFill>
              </a:rPr>
              <a:t>Slide 3</a:t>
            </a:r>
            <a:r>
              <a:rPr lang="en-GB" dirty="0"/>
              <a:t> for the contents to be included</a:t>
            </a:r>
          </a:p>
          <a:p>
            <a:pPr marL="6350" indent="0">
              <a:buNone/>
            </a:pPr>
            <a:r>
              <a:rPr lang="en-GB" dirty="0"/>
              <a:t>3. Team operation summary</a:t>
            </a:r>
          </a:p>
          <a:p>
            <a:pPr marL="320675" lvl="1" indent="0">
              <a:buNone/>
            </a:pPr>
            <a:r>
              <a:rPr lang="en-GB" dirty="0"/>
              <a:t>See </a:t>
            </a:r>
            <a:r>
              <a:rPr lang="en-GB" b="1" dirty="0">
                <a:solidFill>
                  <a:srgbClr val="FF0000"/>
                </a:solidFill>
              </a:rPr>
              <a:t>Slide 3</a:t>
            </a:r>
            <a:r>
              <a:rPr lang="en-GB" dirty="0"/>
              <a:t> for the contents to be included</a:t>
            </a:r>
          </a:p>
          <a:p>
            <a:pPr marL="6350" indent="0">
              <a:buNone/>
            </a:pPr>
            <a:r>
              <a:rPr lang="en-GB" dirty="0"/>
              <a:t>4. Architectural design of the system</a:t>
            </a:r>
          </a:p>
          <a:p>
            <a:pPr marL="320675" lvl="1" indent="0">
              <a:buNone/>
            </a:pPr>
            <a:r>
              <a:rPr lang="en-GB" dirty="0"/>
              <a:t>A component diagram for the components running on the cloud and the interfaces provided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28690-DFD2-9A5D-746A-F000561D62B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33577-ABB7-997C-4408-75B5388C1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6979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1F61A-EEFD-8557-3AB2-071748A2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Individual’s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1B4EE-1F1A-174B-0CF7-E40577603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" indent="0">
              <a:buNone/>
            </a:pPr>
            <a:r>
              <a:rPr lang="en-GB" sz="2000" dirty="0"/>
              <a:t>1. Specification of Quality Requirements</a:t>
            </a:r>
          </a:p>
          <a:p>
            <a:pPr marL="6350" indent="0">
              <a:buNone/>
            </a:pPr>
            <a:r>
              <a:rPr lang="en-GB" sz="2000" dirty="0"/>
              <a:t>2. Software Functional Modelling</a:t>
            </a:r>
          </a:p>
          <a:p>
            <a:pPr marL="320675" lvl="1" indent="0">
              <a:buNone/>
            </a:pPr>
            <a:r>
              <a:rPr lang="en-GB" sz="1800" dirty="0"/>
              <a:t>2.1. Use case model </a:t>
            </a:r>
          </a:p>
          <a:p>
            <a:pPr marL="320675" lvl="1" indent="0">
              <a:buNone/>
            </a:pPr>
            <a:r>
              <a:rPr lang="en-GB" sz="1800" dirty="0"/>
              <a:t>2.2. Activity model</a:t>
            </a:r>
          </a:p>
          <a:p>
            <a:pPr marL="6350" indent="0">
              <a:buNone/>
            </a:pPr>
            <a:r>
              <a:rPr lang="en-GB" sz="2000" dirty="0"/>
              <a:t>3. Software architectural Design</a:t>
            </a:r>
          </a:p>
          <a:p>
            <a:pPr marL="320675" lvl="1" indent="0">
              <a:buNone/>
            </a:pPr>
            <a:r>
              <a:rPr lang="en-GB" sz="1800" dirty="0"/>
              <a:t>3.1. Architecture of the subsystem</a:t>
            </a:r>
          </a:p>
          <a:p>
            <a:pPr marL="320675" lvl="1" indent="0">
              <a:buNone/>
            </a:pPr>
            <a:r>
              <a:rPr lang="en-GB" sz="1800" dirty="0"/>
              <a:t>3.2. Specification of the components and interfaces</a:t>
            </a:r>
          </a:p>
          <a:p>
            <a:pPr marL="6350" indent="0">
              <a:buNone/>
            </a:pPr>
            <a:r>
              <a:rPr lang="en-GB" sz="2000" dirty="0"/>
              <a:t>4. Detailed Design</a:t>
            </a:r>
          </a:p>
          <a:p>
            <a:pPr marL="320675" lvl="1" indent="0">
              <a:buNone/>
            </a:pPr>
            <a:r>
              <a:rPr lang="en-GB" sz="1800" dirty="0"/>
              <a:t>4.1. Structural model</a:t>
            </a:r>
          </a:p>
          <a:p>
            <a:pPr marL="320675" lvl="1" indent="0">
              <a:buNone/>
            </a:pPr>
            <a:r>
              <a:rPr lang="en-GB" sz="1800" dirty="0"/>
              <a:t>4.2. Behavioural model</a:t>
            </a:r>
          </a:p>
          <a:p>
            <a:pPr marL="6350" indent="0">
              <a:buNone/>
            </a:pPr>
            <a:r>
              <a:rPr lang="en-GB" sz="2000" dirty="0"/>
              <a:t>5. Reflection on Teamwork</a:t>
            </a:r>
          </a:p>
          <a:p>
            <a:pPr marL="320675" lvl="1" indent="0">
              <a:buNone/>
            </a:pPr>
            <a:r>
              <a:rPr lang="en-GB" sz="1800" dirty="0"/>
              <a:t>5.1. Contributions to teak organisation and project management</a:t>
            </a:r>
          </a:p>
          <a:p>
            <a:pPr marL="320675" lvl="1" indent="0">
              <a:buNone/>
            </a:pPr>
            <a:r>
              <a:rPr lang="en-GB" sz="1800" dirty="0"/>
              <a:t>5.2. Technical contributions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47BBF-3115-AD5A-9D79-55E17BC010F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AD31D-F0DD-7E70-4D5A-3A90F6C49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834A1-AF73-1B59-513C-9C14828F5EA0}"/>
              </a:ext>
            </a:extLst>
          </p:cNvPr>
          <p:cNvSpPr txBox="1"/>
          <p:nvPr/>
        </p:nvSpPr>
        <p:spPr>
          <a:xfrm>
            <a:off x="5467546" y="886120"/>
            <a:ext cx="3195687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i="1" dirty="0">
                <a:solidFill>
                  <a:srgbClr val="0432FF"/>
                </a:solidFill>
              </a:rPr>
              <a:t>Please make it clear which subsystem you r are developing. </a:t>
            </a:r>
          </a:p>
        </p:txBody>
      </p:sp>
    </p:spTree>
    <p:extLst>
      <p:ext uri="{BB962C8B-B14F-4D97-AF65-F5344CB8AC3E}">
        <p14:creationId xmlns:p14="http://schemas.microsoft.com/office/powerpoint/2010/main" val="700300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9EB9-9D2B-D7E5-8D22-3A0DEF2E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And Where To Submit?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9C610-4402-7CB0-3BB8-9C7BED905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19432"/>
            <a:ext cx="8520600" cy="3237271"/>
          </a:xfrm>
        </p:spPr>
        <p:txBody>
          <a:bodyPr/>
          <a:lstStyle/>
          <a:p>
            <a:r>
              <a:rPr lang="en-GB" sz="2800" dirty="0"/>
              <a:t>Deadline of submission:</a:t>
            </a:r>
          </a:p>
          <a:p>
            <a:pPr lvl="1"/>
            <a:r>
              <a:rPr lang="en-GB" sz="2400" dirty="0"/>
              <a:t>23:00pm on 5th Dec. 2025 (Friday of Week 11)</a:t>
            </a:r>
          </a:p>
          <a:p>
            <a:pPr lvl="1"/>
            <a:r>
              <a:rPr lang="en-GB" sz="2400" dirty="0"/>
              <a:t>No late submission is allowed</a:t>
            </a:r>
          </a:p>
          <a:p>
            <a:r>
              <a:rPr lang="en-GB" sz="2800" dirty="0"/>
              <a:t>Where to submit:</a:t>
            </a:r>
          </a:p>
          <a:p>
            <a:pPr lvl="1"/>
            <a:r>
              <a:rPr lang="en-GB" sz="2400" dirty="0"/>
              <a:t>Upload the zip file to Moodle </a:t>
            </a:r>
          </a:p>
          <a:p>
            <a:pPr lvl="1"/>
            <a:r>
              <a:rPr lang="en-GB" sz="2400" dirty="0"/>
              <a:t>Must be done by the team leader</a:t>
            </a:r>
          </a:p>
          <a:p>
            <a:pPr lvl="1"/>
            <a:r>
              <a:rPr lang="en-GB" sz="2400" dirty="0"/>
              <a:t>Do not submit twice </a:t>
            </a:r>
          </a:p>
          <a:p>
            <a:pPr lvl="1"/>
            <a:r>
              <a:rPr lang="en-GB" sz="2400" dirty="0"/>
              <a:t>No submission by email is allowed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03DC9-E129-E818-D0B3-081BAA1D30D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E7A35-85E5-A8CB-0E16-43578E3D9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5303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FCF8-F572-4136-8775-87712626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 Assessment Arrangement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5D06E-32C6-FF6E-079C-3703BD34B81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3A882-ABDD-7119-484A-822B390A4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BCB978-43D9-5673-9ACE-EE23715B3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83481"/>
              </p:ext>
            </p:extLst>
          </p:nvPr>
        </p:nvGraphicFramePr>
        <p:xfrm>
          <a:off x="436775" y="954064"/>
          <a:ext cx="8270450" cy="3235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429">
                  <a:extLst>
                    <a:ext uri="{9D8B030D-6E8A-4147-A177-3AD203B41FA5}">
                      <a16:colId xmlns:a16="http://schemas.microsoft.com/office/drawing/2014/main" val="2097399065"/>
                    </a:ext>
                  </a:extLst>
                </a:gridCol>
                <a:gridCol w="1799431">
                  <a:extLst>
                    <a:ext uri="{9D8B030D-6E8A-4147-A177-3AD203B41FA5}">
                      <a16:colId xmlns:a16="http://schemas.microsoft.com/office/drawing/2014/main" val="2317621066"/>
                    </a:ext>
                  </a:extLst>
                </a:gridCol>
                <a:gridCol w="4474590">
                  <a:extLst>
                    <a:ext uri="{9D8B030D-6E8A-4147-A177-3AD203B41FA5}">
                      <a16:colId xmlns:a16="http://schemas.microsoft.com/office/drawing/2014/main" val="3928942023"/>
                    </a:ext>
                  </a:extLst>
                </a:gridCol>
              </a:tblGrid>
              <a:tr h="431212">
                <a:tc>
                  <a:txBody>
                    <a:bodyPr/>
                    <a:lstStyle/>
                    <a:p>
                      <a:r>
                        <a:rPr lang="en-GB" sz="20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Assessor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Email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690876"/>
                  </a:ext>
                </a:extLst>
              </a:tr>
              <a:tr h="631111">
                <a:tc>
                  <a:txBody>
                    <a:bodyPr/>
                    <a:lstStyle/>
                    <a:p>
                      <a:r>
                        <a:rPr lang="en-GB" sz="2000" dirty="0"/>
                        <a:t>Group 1 –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Abishaan</a:t>
                      </a:r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Ravikumar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2"/>
                        </a:rPr>
                        <a:t>19232440@brookes.ac.uk</a:t>
                      </a:r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768160"/>
                  </a:ext>
                </a:extLst>
              </a:tr>
              <a:tr h="631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/>
                        <a:t>Group 12 – 13,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/>
                        <a:t>Group 20 –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Hong Zhu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3"/>
                        </a:rPr>
                        <a:t>hzhu@brookes.ac.uk</a:t>
                      </a:r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GB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70062"/>
                  </a:ext>
                </a:extLst>
              </a:tr>
              <a:tr h="631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/>
                        <a:t>Group 13,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/>
                        <a:t>Group 30 –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/>
                        <a:t>Rachel Harrison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4"/>
                        </a:rPr>
                        <a:t>rachel.harrison@brookes.ac.uk</a:t>
                      </a:r>
                      <a:endParaRPr lang="en-GB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62048"/>
                  </a:ext>
                </a:extLst>
              </a:tr>
              <a:tr h="631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/>
                        <a:t>Group 14 – 15,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dirty="0"/>
                        <a:t>Group 41 – 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Yana </a:t>
                      </a:r>
                      <a:r>
                        <a:rPr lang="en-GB" sz="20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Krytska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5"/>
                        </a:rPr>
                        <a:t>ykrytska@brookes.ac.uk</a:t>
                      </a:r>
                      <a:r>
                        <a:rPr lang="en-GB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903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907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1BB6-0B3D-3E4A-07E7-5226A43A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 to GitHub Repository for Marking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E9DCB2-CF93-9A10-3415-905C2AD71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6499" y="968929"/>
            <a:ext cx="8286162" cy="19081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Grant your coursework </a:t>
            </a:r>
            <a:r>
              <a:rPr lang="en-GB" sz="2800" b="1" i="1" dirty="0">
                <a:solidFill>
                  <a:schemeClr val="tx1"/>
                </a:solidFill>
              </a:rPr>
              <a:t>assessor and me </a:t>
            </a:r>
            <a:r>
              <a:rPr lang="en-GB" sz="2800" dirty="0">
                <a:solidFill>
                  <a:schemeClr val="tx1"/>
                </a:solidFill>
              </a:rPr>
              <a:t>the access to your </a:t>
            </a:r>
            <a:r>
              <a:rPr lang="en-GB" sz="2800" b="1" dirty="0">
                <a:solidFill>
                  <a:schemeClr val="tx1"/>
                </a:solidFill>
              </a:rPr>
              <a:t>group coursework’s GitHub repository</a:t>
            </a:r>
            <a:r>
              <a:rPr lang="en-GB" sz="2800" dirty="0">
                <a:solidFill>
                  <a:schemeClr val="tx1"/>
                </a:solidFill>
              </a:rPr>
              <a:t> via an </a:t>
            </a:r>
            <a:r>
              <a:rPr lang="en-GB" sz="2800" b="1" dirty="0">
                <a:solidFill>
                  <a:schemeClr val="tx1"/>
                </a:solidFill>
              </a:rPr>
              <a:t>invitation</a:t>
            </a:r>
            <a:r>
              <a:rPr lang="en-GB" sz="2800" dirty="0">
                <a:solidFill>
                  <a:schemeClr val="tx1"/>
                </a:solidFill>
              </a:rPr>
              <a:t> from the GitHub website.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C4805-B7BF-F282-E8AB-FEA0668F8C1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2E359-C7B0-A8E8-41D9-FD3545C27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6087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20CF-6568-0D78-71B6-3E0BB4CB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Questions and Answers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7A73B-0808-FFC0-CCFA-8447760A8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70965"/>
            <a:ext cx="8520600" cy="4007611"/>
          </a:xfrm>
        </p:spPr>
        <p:txBody>
          <a:bodyPr/>
          <a:lstStyle/>
          <a:p>
            <a:r>
              <a:rPr lang="en-GB" dirty="0"/>
              <a:t>What if a member of the group is granted an extension?</a:t>
            </a:r>
          </a:p>
          <a:p>
            <a:pPr lvl="1"/>
            <a:r>
              <a:rPr lang="en-GB" dirty="0"/>
              <a:t>The student granted extension must </a:t>
            </a:r>
            <a:r>
              <a:rPr lang="en-GB" b="1" dirty="0"/>
              <a:t>email </a:t>
            </a:r>
            <a:r>
              <a:rPr lang="en-GB" dirty="0"/>
              <a:t>me in advance </a:t>
            </a:r>
          </a:p>
          <a:p>
            <a:pPr lvl="2"/>
            <a:r>
              <a:rPr lang="en-GB" dirty="0"/>
              <a:t>State your intension of use the extension </a:t>
            </a:r>
          </a:p>
          <a:p>
            <a:pPr lvl="2"/>
            <a:r>
              <a:rPr lang="en-GB" dirty="0"/>
              <a:t>State your entitled extension length</a:t>
            </a:r>
          </a:p>
          <a:p>
            <a:pPr lvl="2"/>
            <a:r>
              <a:rPr lang="en-GB" dirty="0"/>
              <a:t>Gives your group number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The team can submit the coursework by the extended deadline</a:t>
            </a:r>
          </a:p>
          <a:p>
            <a:pPr lvl="2"/>
            <a:r>
              <a:rPr lang="en-GB" dirty="0"/>
              <a:t>No need to submit twice</a:t>
            </a:r>
          </a:p>
          <a:p>
            <a:pPr lvl="2"/>
            <a:r>
              <a:rPr lang="en-GB" dirty="0"/>
              <a:t>The zip file must be uploaded to Moodle by the student who is granted the extension</a:t>
            </a:r>
          </a:p>
          <a:p>
            <a:pPr lvl="2"/>
            <a:r>
              <a:rPr lang="en-GB" dirty="0"/>
              <a:t>The team leader must check if the uploaded file and its contents are correct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FB6AD-8AC6-D432-BAEC-7095507E8EA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E5EDD-B7D8-6AB8-790A-D280C7C86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BEAE6-8242-EC3D-DC58-A99872DC6841}"/>
              </a:ext>
            </a:extLst>
          </p:cNvPr>
          <p:cNvSpPr txBox="1"/>
          <p:nvPr/>
        </p:nvSpPr>
        <p:spPr>
          <a:xfrm>
            <a:off x="6216446" y="1578096"/>
            <a:ext cx="2615854" cy="70788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0432FF"/>
                </a:solidFill>
              </a:rPr>
              <a:t>Email Address:</a:t>
            </a:r>
            <a:r>
              <a:rPr lang="en-GB" sz="2000" dirty="0"/>
              <a:t> </a:t>
            </a:r>
            <a:r>
              <a:rPr lang="en-GB" sz="2000" dirty="0">
                <a:hlinkClick r:id="rId2"/>
              </a:rPr>
              <a:t>hzhu@brookes.ac.uk</a:t>
            </a:r>
            <a:endParaRPr lang="en-GB" sz="20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3D51F5-6592-6A7E-12E3-71047D81BBD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574890" y="1496655"/>
            <a:ext cx="641556" cy="43538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941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BC94D-EA7D-19C7-5801-EFD89C103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B3594-1C58-A997-3529-13174DFC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Questions and Answers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CC61A1-E2CC-C6CF-C11B-6A9CEA4C4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70965"/>
            <a:ext cx="8520600" cy="4007611"/>
          </a:xfrm>
        </p:spPr>
        <p:txBody>
          <a:bodyPr/>
          <a:lstStyle/>
          <a:p>
            <a:r>
              <a:rPr lang="en-GB" dirty="0"/>
              <a:t>What if a member of the group is not performing as expected?</a:t>
            </a:r>
          </a:p>
          <a:p>
            <a:pPr lvl="1"/>
            <a:r>
              <a:rPr lang="en-GB" dirty="0"/>
              <a:t>Give the facts in the team report </a:t>
            </a:r>
          </a:p>
          <a:p>
            <a:pPr lvl="1"/>
            <a:r>
              <a:rPr lang="en-GB" dirty="0"/>
              <a:t>Marking will take the facts into account</a:t>
            </a:r>
          </a:p>
          <a:p>
            <a:pPr>
              <a:spcBef>
                <a:spcPts val="1200"/>
              </a:spcBef>
            </a:pPr>
            <a:r>
              <a:rPr lang="en-GB" sz="2200" dirty="0"/>
              <a:t>What if one of the group member drops off from the module? </a:t>
            </a:r>
          </a:p>
          <a:p>
            <a:pPr lvl="1"/>
            <a:r>
              <a:rPr lang="en-GB" dirty="0"/>
              <a:t>The group should do three subsystems; each student still only do one subsystem</a:t>
            </a:r>
          </a:p>
          <a:p>
            <a:pPr lvl="1"/>
            <a:r>
              <a:rPr lang="en-GB" dirty="0"/>
              <a:t>Marking will not affect the remaining students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8E44-819A-E032-ACAC-02170E75A52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/>
              <a:t>Nov. 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65518-22FB-D12D-6F82-195E32B4B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COMP5047: Lecture 10 - Coursework Briefing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4929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Brookes (Light-Pink)">
  <a:themeElements>
    <a:clrScheme name="Custom 6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D10373"/>
      </a:accent1>
      <a:accent2>
        <a:srgbClr val="212121"/>
      </a:accent2>
      <a:accent3>
        <a:srgbClr val="78909C"/>
      </a:accent3>
      <a:accent4>
        <a:srgbClr val="F49103"/>
      </a:accent4>
      <a:accent5>
        <a:srgbClr val="0085A1"/>
      </a:accent5>
      <a:accent6>
        <a:srgbClr val="E3BA12"/>
      </a:accent6>
      <a:hlink>
        <a:srgbClr val="6A2150"/>
      </a:hlink>
      <a:folHlink>
        <a:srgbClr val="6A215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LT7013-2022-L5-Map-Reduce" id="{7A6095C9-A4B2-8743-8D53-256D7154A964}" vid="{BF23104E-2FED-D54D-A575-79B117E7569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50949D-7D37-D34F-B4F9-241DC49C1F16}">
  <we:reference id="wa104051163" version="1.2.0.3" store="en-GB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Simple Brookes (Light-Pink)</Template>
  <TotalTime>2686</TotalTime>
  <Words>2583</Words>
  <Application>Microsoft Macintosh PowerPoint</Application>
  <PresentationFormat>On-screen Show (16:9)</PresentationFormat>
  <Paragraphs>371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Courier New</vt:lpstr>
      <vt:lpstr>Times New Roman</vt:lpstr>
      <vt:lpstr>Wingdings</vt:lpstr>
      <vt:lpstr>Simple Brookes (Light-Pink)</vt:lpstr>
      <vt:lpstr>Lecture 10 Consolidation and Coursework briefing</vt:lpstr>
      <vt:lpstr>Outline </vt:lpstr>
      <vt:lpstr>Task 1: Team Organisation and Project Management (Team Part)</vt:lpstr>
      <vt:lpstr>Task 1: Team Organisation and Project Management (Individual Part)</vt:lpstr>
      <vt:lpstr>Task 2: Analyse and Specify Quality Reqs</vt:lpstr>
      <vt:lpstr>Task 3: Modelling SW Functional Reqs</vt:lpstr>
      <vt:lpstr>Example: CloudShop-Customer Subsystem </vt:lpstr>
      <vt:lpstr>Relations between Use Cases</vt:lpstr>
      <vt:lpstr>How to Build a Use Case Model</vt:lpstr>
      <vt:lpstr>Task 3(b) Activity diagram</vt:lpstr>
      <vt:lpstr>Example: CloudShop-Customer Subsystem  Activity diagram for the Registration use case of the Customer subsystem</vt:lpstr>
      <vt:lpstr>Task 4(a): Architectural Design of Subsystem</vt:lpstr>
      <vt:lpstr>Case Study: Mobile Shopping System</vt:lpstr>
      <vt:lpstr>Specification of Microservices</vt:lpstr>
      <vt:lpstr>Specification of Interfaces</vt:lpstr>
      <vt:lpstr>Task 4(b): Integration of subsystems</vt:lpstr>
      <vt:lpstr>Integration of Subsystems: Example</vt:lpstr>
      <vt:lpstr>Possible Solutions</vt:lpstr>
      <vt:lpstr>Task 5 Detailed Design</vt:lpstr>
      <vt:lpstr>Detailed Design: Example: The Review Manager</vt:lpstr>
      <vt:lpstr>Task 5 Detailed Design</vt:lpstr>
      <vt:lpstr>Detailed Design: Review Manager Component</vt:lpstr>
      <vt:lpstr>Detailed Design: Review Manager Component</vt:lpstr>
      <vt:lpstr>What To Be Submitted</vt:lpstr>
      <vt:lpstr>Outline of Team Report</vt:lpstr>
      <vt:lpstr>Outline of Individual’s Report</vt:lpstr>
      <vt:lpstr>When And Where To Submit? </vt:lpstr>
      <vt:lpstr>Coursework Assessment Arrangement</vt:lpstr>
      <vt:lpstr>Access to GitHub Repository for Marking</vt:lpstr>
      <vt:lpstr>Questions and Answers</vt:lpstr>
      <vt:lpstr>Questions and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Cloud Native Applications  Prof. Hong Zhu School of Engineering, Computing and Mathematics  Oxford Brookes University, Oxford, UK </dc:title>
  <dc:creator>Hong Zhu</dc:creator>
  <cp:lastModifiedBy>Hong Zhu</cp:lastModifiedBy>
  <cp:revision>33</cp:revision>
  <dcterms:created xsi:type="dcterms:W3CDTF">2023-01-29T13:05:16Z</dcterms:created>
  <dcterms:modified xsi:type="dcterms:W3CDTF">2025-11-21T12:04:16Z</dcterms:modified>
</cp:coreProperties>
</file>